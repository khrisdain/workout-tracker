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[morning/afternoon]. This is PulseTrack, our CPAN-228 project.
It is a workout tracking application, and for the final deliverable it is no longer one program: it is two Spring Boot applications, each with its own database, talking to each other over a REST API.
Over the next ten minutes I will show you the running application, then walk through how the three deliverables fit together, and finish with a live demonstration of switching the database profile and of what happens when we deliberately break the microservice.
[Introduce the team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the technology, the product idea, because it drove most of our design decisions.
Most fitness apps optimise for the moment you finish a workout — they show you a big number and a congratulations screen. We deliberately optimised for a different moment: the Sunday evening when you want to know whether the last four weeks added up to anything.
That is why every screen leads with volume, split and consistency rather than a single hero number. It is also why we seeded five weeks of realistic history instead of shipping an empty table — an empty dashboard teaches you nothing about whether the dashboard is any good.
Those numbers on the right are what you get on a fresh clone, with no setup.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switch to the running application. [DEMO]
I am signed in as a member — Jordan. I can log a session, filter the training log, and enrol in a program. Notice the navigation: there is no Admin link.
Now I sign in as a coach. Same pages, plus a "New program" option, because coaches author the training blocks that members follow.
And now as an administrator, where the Admin console appears.
The important claim is on this slide: the roles are not decoration. If I take Jordan's session and try to open the admin console by typing the URL directly, I get a 403 — not a redirect to a login page, an actual refusal, because he IS logged in, he just isn't allowed.
We also enforce ownership twice. The filter chain says "you must be signed in to edit"; the service layer separately says "you must own this row, unless you are a coach or an admin." That second check is what stops a member editing someone else's workout by guessing an ID.
And we protect the last administrator from being demoted, suspended or deleted — otherwise you can lock yourself out of your own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shape of the system.
On the left, the primary web application on port 8080 — that is everything you just saw. On the right, the nutrition service on 8081.
The thing I want you to take from this diagram is the bottom row. Each application owns a completely separate database. PulseTrack has users, workouts and programs. The nutrition service has meal_plans — and it has no users table at all; its two accounts are configured in YAML.
That separation is what makes this a microservice rather than just a second web layer. The most common way to get this wrong is to point two applications at one database, and then you have paid all the costs of splitting and gained none of the benefits.
Because they cannot see each other's schema, they are free to use different database engines entirely — and they do. In our non-development profiles PulseTrack runs on MySQL and the nutrition service runs on PostgreSQL, and neither one knows.
The only thing crossing the boundary is JSON over HTTP, with Basic authentication.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quick recap of Deliverable 1, because Deliverable 3 asked us to stabilise and finish what we already had rather than start something new.
The two points I would draw your attention to are the third and fourth.
Validation is genuinely server-side. If you disable JavaScript, or post to the endpoint with curl, the rules still hold — the form redisplays with a message per field explaining what was wrong.
And the filtering and sorting are executed by the database. It would have been much easier to load every workout into a list and filter it in Java, and it would have looked identical with sixty rows. We used a JPA Specification with a Pageable so the query, the sort and the page limit all reach the database. That is the version that still works at sixty thousand rows.
One small thing we are proud of: if you leave the calories field blank, the application estimates it from the activity's MET value, your bodyweight and how hard the session felt.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Deliverable 2 layered security onto that.
Registration encodes with BCrypt at strength 10. I want to be precise about what that means: we do not encrypt the password, we hash it, and the hash is deliberately slow. There is no code path in this application that can turn a stored value back into a password — including for us.
Our User entity implements Spring Security's UserDetails interface directly. That was a deliberate choice over having a separate security object, because it means the row we authenticate against is the same row we read for the member's profile and body metrics.
On the right: the public surface is the marketing pages, the read-only listings, login and registration. Everything that writes requires a session, and some of it requires a specific role.
And a detail that took us a while to get right — when you are refused, you get a branded page that tells you which role you are signed in with. During development we kept being bounced to the login page while already logged in, which is confusing. Being told "you are signed in as a Member, this is administrator-only" is much better.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core of Deliverable 3, so I will spend a moment here.
We deleted application.properties entirely. There is no .properties file anywhere in the repository. Everything is hierarchical YAML: one file for settings common to every environment, and one file per environment.
The development profile runs on in-memory H2 — no installation, no containers. The production profile runs on MySQL, and every credential is a placeholder with a default, so nothing secret is committed and a marker can still run it with no configuration at all.
The requirement was that a reviewer can toggle the profile and run against either database without changing source code, and that is exactly what these two commands do. Same jar, same source, different database.
[DEMO] I will show that live in a moment — I will start MySQL in Docker, run the same jar with the prod profile, and you will see the profile badge in the footer change from "dev" to "prod" while the application behaves identically.
One design detail: each profile also gets its own seed script, resolved automatically from the profile. That let us write each one in its own database's dialect, so the sample dates stay relative to the day you run it and the thirty-day charts are always populated.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half of Deliverable 3 is the microservice itself.
We were careful to give it something real to own. A common shortcut is to build a service that just stores and returns rows, which is a database with extra steps. Ours performs an actual calculation.
It takes the member's weight, height, age and activity level, works out resting energy with the Mifflin-St Jeor equation, scales that by activity, and then adds a bonus derived from how much the member actually trained in the last week — and those training minutes come from PulseTrack. That is what makes the two systems genuinely connected rather than merely adjacent: a member who trained hard last week gets a higher calorie target than an identical member who did not.
Then it applies the goal — cut, maintain or bulk — with a safety floor at 110% of resting energy, so an aggressive cut can never produce a dangerous number.
On the right is the full REST surface, with the status codes we return. Create gives you a 201 and a Location header pointing at the new resource. Delete gives 204 with no body, and 404 if you delete it twice. The search endpoint takes four optional parameters that combine.
All of it is behind HTTP Basic, with accounts that exist only in this service.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I would ask you to hold us to, because it is the one thing a monolith cannot do.
[DEMO] I am going to kill the nutrition service right now, with the web application still running. ... And now I reload the nutrition page.
Notice what did not happen. No error page, no stack trace, no five-hundred. We get a warning banner that names the endpoint it could not reach and tells you how to start it. And if I go back to the dashboard, the training log, the admin console — everything still returns normally, because none of those depend on the remote service.
That behaviour is not free, and it is the honest cost of splitting a system up. In a single application, calling a service method cannot time out. Once it is a network call, it can fail in about six different ways — the host is down, DNS fails, the connection hangs, our credentials are wrong, the service returns a 404, or it returns a 500.
We handle all six in one place, a single method every call is funnelled through, so there is exactly one implementation of "what does the user see when this goes wrong." And we set deliberately short timeouts — two seconds to connect, four to read — because a hung dependency that holds a request thread for thirty seconds makes YOUR application look broken, not the one that failed.
We have six tests that force each of those failure modes and assert the application degrades instead of throwing.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Briefly, the operational side.
Docker Compose brings up MySQL for the production profile and PostgreSQL for the QA profile. Neither is needed for normal development — the dev profile runs on in-memory H2 with nothing installed.
To be clear about what Docker is buying us here, since it is easy to overclaim: the value is that the marker gets MySQL 8.4 and PostgreSQL 16 exactly, rather than whatever happens to be installed on their laptop, and that we can wipe both databases to a known state in one command. That last part is how we rehearsed the profile-switching demonstration until it was reliable.
On quality: seventy-one automated tests across the two applications. The ones I would point at are the six that force each microservice failure mode, and the tests that verify our arithmetic against published reference values for the Mifflin-St Jeor equation, rather than against whatever our code happened to produce.
And the README is written for someone who has never seen the project: every profile, every environment variable with its default, and the Docker commands.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the thing we actually learned.
Splitting a system into services is a trade, not an upgrade. We gave up foreign keys across the boundary — a meal plan references a member by a plain username string, and if that member is deleted, nothing in the database stops the plan being orphaned. We gave up joins, and we gave up transactions that span both sides.
What we bought was independent deployment and the freedom to run two different database engines.
At this size, honestly, a single application would have been simpler. Meal plans could have been one more table with one more relationship. But being able to say precisely what we traded, and to show the failure behaviour we had to build because of it, is the reason the exercise was worth doing.
Thank you. Happy to take questions, and the application is still running if you would like to see any part of it again.
[Likely questions: Why not share a library for the duplicated enums? — Because a shared jar means both apps must be redeployed together, which reintroduces the coupling we split to remove. Why BCrypt over SHA-256? — Because BCrypt is deliberately slow and salted per user. Why is CSRF disabled on the microservice? — Because it is a stateless API with no browser session or cookie to ride.]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420"/>
        </a:solidFill>
      </p:bgPr>
    </p:bg>
    <p:spTree>
      <p:nvGrpSpPr>
        <p:cNvPr id="1" name=""/>
        <p:cNvGrpSpPr/>
        <p:nvPr/>
      </p:nvGrpSpPr>
      <p:grpSpPr>
        <a:xfrm>
          <a:off x="0" y="0"/>
          <a:ext cx="0" cy="0"/>
          <a:chOff x="0" y="0"/>
          <a:chExt cx="0" cy="0"/>
        </a:xfrm>
      </p:grpSpPr>
      <p:sp>
        <p:nvSpPr>
          <p:cNvPr id="2" name="Text 0"/>
          <p:cNvSpPr/>
          <p:nvPr/>
        </p:nvSpPr>
        <p:spPr>
          <a:xfrm>
            <a:off x="640080" y="2057400"/>
            <a:ext cx="8229600" cy="1371600"/>
          </a:xfrm>
          <a:prstGeom prst="rect">
            <a:avLst/>
          </a:prstGeom>
          <a:noFill/>
          <a:ln/>
        </p:spPr>
        <p:txBody>
          <a:bodyPr wrap="square" lIns="0" tIns="0" rIns="0" bIns="0" rtlCol="0" anchor="ctr"/>
          <a:lstStyle/>
          <a:p>
            <a:pPr indent="0" marL="0">
              <a:buNone/>
            </a:pPr>
            <a:r>
              <a:rPr lang="en-US" sz="6800" b="1" spc="-100" kern="0" dirty="0">
                <a:solidFill>
                  <a:srgbClr val="FFFFFF"/>
                </a:solidFill>
                <a:latin typeface="Arial" pitchFamily="34" charset="0"/>
                <a:ea typeface="Arial" pitchFamily="34" charset="-122"/>
                <a:cs typeface="Arial" pitchFamily="34" charset="-120"/>
              </a:rPr>
              <a:t>Pulse</a:t>
            </a:r>
            <a:pPr indent="0" marL="0">
              <a:buNone/>
            </a:pPr>
            <a:r>
              <a:rPr lang="en-US" sz="6800" b="1" spc="-100" kern="0" dirty="0">
                <a:solidFill>
                  <a:srgbClr val="FF5A3C"/>
                </a:solidFill>
                <a:latin typeface="Arial" pitchFamily="34" charset="0"/>
                <a:ea typeface="Arial" pitchFamily="34" charset="-122"/>
                <a:cs typeface="Arial" pitchFamily="34" charset="-120"/>
              </a:rPr>
              <a:t>Track</a:t>
            </a:r>
            <a:endParaRPr lang="en-US" sz="6800" dirty="0"/>
          </a:p>
        </p:txBody>
      </p:sp>
      <p:sp>
        <p:nvSpPr>
          <p:cNvPr id="3" name="Text 1"/>
          <p:cNvSpPr/>
          <p:nvPr/>
        </p:nvSpPr>
        <p:spPr>
          <a:xfrm>
            <a:off x="640080" y="3429000"/>
            <a:ext cx="8412480" cy="457200"/>
          </a:xfrm>
          <a:prstGeom prst="rect">
            <a:avLst/>
          </a:prstGeom>
          <a:noFill/>
          <a:ln/>
        </p:spPr>
        <p:txBody>
          <a:bodyPr wrap="square" lIns="0" tIns="0" rIns="0" bIns="0" rtlCol="0" anchor="ctr"/>
          <a:lstStyle/>
          <a:p>
            <a:pPr indent="0" marL="0">
              <a:buNone/>
            </a:pPr>
            <a:r>
              <a:rPr lang="en-US" sz="2000" dirty="0">
                <a:solidFill>
                  <a:srgbClr val="C9CFDA"/>
                </a:solidFill>
                <a:latin typeface="Calibri" pitchFamily="34" charset="0"/>
                <a:ea typeface="Calibri" pitchFamily="34" charset="-122"/>
                <a:cs typeface="Calibri" pitchFamily="34" charset="-120"/>
              </a:rPr>
              <a:t>Workout tracking, split across two Spring Boot services.</a:t>
            </a:r>
            <a:endParaRPr lang="en-US" sz="2000" dirty="0"/>
          </a:p>
        </p:txBody>
      </p:sp>
      <p:sp>
        <p:nvSpPr>
          <p:cNvPr id="4" name="Text 2"/>
          <p:cNvSpPr/>
          <p:nvPr/>
        </p:nvSpPr>
        <p:spPr>
          <a:xfrm>
            <a:off x="640080" y="5669280"/>
            <a:ext cx="10058400" cy="292608"/>
          </a:xfrm>
          <a:prstGeom prst="rect">
            <a:avLst/>
          </a:prstGeom>
          <a:noFill/>
          <a:ln/>
        </p:spPr>
        <p:txBody>
          <a:bodyPr wrap="square" lIns="0" tIns="0" rIns="0" bIns="0" rtlCol="0" anchor="ctr"/>
          <a:lstStyle/>
          <a:p>
            <a:pPr indent="0" marL="0">
              <a:buNone/>
            </a:pPr>
            <a:r>
              <a:rPr lang="en-US" sz="1300" dirty="0">
                <a:solidFill>
                  <a:srgbClr val="64748B"/>
                </a:solidFill>
                <a:latin typeface="Calibri" pitchFamily="34" charset="0"/>
                <a:ea typeface="Calibri" pitchFamily="34" charset="-122"/>
                <a:cs typeface="Calibri" pitchFamily="34" charset="-120"/>
              </a:rPr>
              <a:t>CPAN-228  ·  Web Application Development  ·  Deliverable 3, Final Project</a:t>
            </a:r>
            <a:endParaRPr lang="en-US" sz="1300" dirty="0"/>
          </a:p>
        </p:txBody>
      </p:sp>
      <p:sp>
        <p:nvSpPr>
          <p:cNvPr id="5" name="Text 3"/>
          <p:cNvSpPr/>
          <p:nvPr/>
        </p:nvSpPr>
        <p:spPr>
          <a:xfrm>
            <a:off x="640080" y="6035040"/>
            <a:ext cx="10058400" cy="292608"/>
          </a:xfrm>
          <a:prstGeom prst="rect">
            <a:avLst/>
          </a:prstGeom>
          <a:noFill/>
          <a:ln/>
        </p:spPr>
        <p:txBody>
          <a:bodyPr wrap="square" lIns="0" tIns="0" rIns="0" bIns="0" rtlCol="0" anchor="ctr"/>
          <a:lstStyle/>
          <a:p>
            <a:pPr indent="0" marL="0">
              <a:buNone/>
            </a:pPr>
            <a:r>
              <a:rPr lang="en-US" sz="1300" dirty="0">
                <a:solidFill>
                  <a:srgbClr val="8A93A3"/>
                </a:solidFill>
                <a:latin typeface="Calibri" pitchFamily="34" charset="0"/>
                <a:ea typeface="Calibri" pitchFamily="34" charset="-122"/>
                <a:cs typeface="Calibri" pitchFamily="34" charset="-120"/>
              </a:rPr>
              <a:t>Team:  [ name ]   ·   [ name ]   ·   [ name ]   ·   [ name ]</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7315200" cy="274320"/>
          </a:xfrm>
          <a:prstGeom prst="rect">
            <a:avLst/>
          </a:prstGeom>
          <a:noFill/>
          <a:ln/>
        </p:spPr>
        <p:txBody>
          <a:bodyPr wrap="square" lIns="0" tIns="0" rIns="0" bIns="0" rtlCol="0" anchor="ctr"/>
          <a:lstStyle/>
          <a:p>
            <a:pPr indent="0" marL="0">
              <a:buNone/>
            </a:pPr>
            <a:r>
              <a:rPr lang="en-US" sz="1100" b="1" spc="200" kern="0" dirty="0">
                <a:solidFill>
                  <a:srgbClr val="FF5A3C"/>
                </a:solidFill>
                <a:latin typeface="Arial" pitchFamily="34" charset="0"/>
                <a:ea typeface="Arial" pitchFamily="34" charset="-122"/>
                <a:cs typeface="Arial" pitchFamily="34" charset="-120"/>
              </a:rPr>
              <a:t>THE PRODUCT</a:t>
            </a:r>
            <a:endParaRPr lang="en-US" sz="1100" dirty="0"/>
          </a:p>
        </p:txBody>
      </p:sp>
      <p:sp>
        <p:nvSpPr>
          <p:cNvPr id="3" name="Text 1"/>
          <p:cNvSpPr/>
          <p:nvPr/>
        </p:nvSpPr>
        <p:spPr>
          <a:xfrm>
            <a:off x="640080" y="777240"/>
            <a:ext cx="10881360" cy="1234440"/>
          </a:xfrm>
          <a:prstGeom prst="rect">
            <a:avLst/>
          </a:prstGeom>
          <a:noFill/>
          <a:ln/>
        </p:spPr>
        <p:txBody>
          <a:bodyPr wrap="square" lIns="0" tIns="0" rIns="0" bIns="0" rtlCol="0" anchor="t"/>
          <a:lstStyle/>
          <a:p>
            <a:pPr indent="0" marL="0">
              <a:buNone/>
            </a:pPr>
            <a:r>
              <a:rPr lang="en-US" sz="3400" b="1" dirty="0">
                <a:solidFill>
                  <a:srgbClr val="0E1420"/>
                </a:solidFill>
                <a:latin typeface="Arial" pitchFamily="34" charset="0"/>
                <a:ea typeface="Arial" pitchFamily="34" charset="-122"/>
                <a:cs typeface="Arial" pitchFamily="34" charset="-120"/>
              </a:rPr>
              <a:t>The monthly trend changes behaviour,</a:t>
            </a:r>
            <a:endParaRPr lang="en-US" sz="3400" dirty="0"/>
          </a:p>
          <a:p>
            <a:pPr indent="0" marL="0">
              <a:buNone/>
            </a:pPr>
            <a:r>
              <a:rPr lang="en-US" sz="3400" b="1" dirty="0">
                <a:solidFill>
                  <a:srgbClr val="0E1420"/>
                </a:solidFill>
                <a:latin typeface="Arial" pitchFamily="34" charset="0"/>
                <a:ea typeface="Arial" pitchFamily="34" charset="-122"/>
                <a:cs typeface="Arial" pitchFamily="34" charset="-120"/>
              </a:rPr>
              <a:t>not today's session.</a:t>
            </a:r>
            <a:endParaRPr lang="en-US" sz="3400" dirty="0"/>
          </a:p>
        </p:txBody>
      </p:sp>
      <p:sp>
        <p:nvSpPr>
          <p:cNvPr id="4" name="Text 2"/>
          <p:cNvSpPr/>
          <p:nvPr/>
        </p:nvSpPr>
        <p:spPr>
          <a:xfrm>
            <a:off x="640080" y="2651760"/>
            <a:ext cx="5669280" cy="2743200"/>
          </a:xfrm>
          <a:prstGeom prst="rect">
            <a:avLst/>
          </a:prstGeom>
          <a:noFill/>
          <a:ln/>
        </p:spPr>
        <p:txBody>
          <a:bodyPr wrap="square" lIns="0" tIns="0" rIns="0" bIns="0" rtlCol="0" anchor="t"/>
          <a:lstStyle/>
          <a:p>
            <a:pPr indent="0" marL="0">
              <a:lnSpc>
                <a:spcPct val="130000"/>
              </a:lnSpc>
              <a:spcAft>
                <a:spcPts val="1400"/>
              </a:spcAft>
              <a:buNone/>
            </a:pPr>
            <a:r>
              <a:rPr lang="en-US" sz="1450" dirty="0">
                <a:solidFill>
                  <a:srgbClr val="1A2333"/>
                </a:solidFill>
                <a:latin typeface="Calibri" pitchFamily="34" charset="0"/>
                <a:ea typeface="Calibri" pitchFamily="34" charset="-122"/>
                <a:cs typeface="Calibri" pitchFamily="34" charset="-120"/>
              </a:rPr>
              <a:t>Most fitness apps optimise for the moment you finish a workout.</a:t>
            </a:r>
            <a:endParaRPr lang="en-US" sz="1450" dirty="0"/>
          </a:p>
          <a:p>
            <a:pPr indent="0" marL="0">
              <a:lnSpc>
                <a:spcPct val="130000"/>
              </a:lnSpc>
              <a:spcAft>
                <a:spcPts val="1400"/>
              </a:spcAft>
              <a:buNone/>
            </a:pPr>
            <a:r>
              <a:rPr lang="en-US" sz="1450" dirty="0">
                <a:solidFill>
                  <a:srgbClr val="1A2333"/>
                </a:solidFill>
                <a:latin typeface="Calibri" pitchFamily="34" charset="0"/>
                <a:ea typeface="Calibri" pitchFamily="34" charset="-122"/>
                <a:cs typeface="Calibri" pitchFamily="34" charset="-120"/>
              </a:rPr>
              <a:t>PulseTrack optimises for the Sunday evening when you want to know whether the last four weeks actually added up to anything.</a:t>
            </a:r>
            <a:endParaRPr lang="en-US" sz="1450" dirty="0"/>
          </a:p>
          <a:p>
            <a:pPr indent="0" marL="0">
              <a:lnSpc>
                <a:spcPct val="130000"/>
              </a:lnSpc>
              <a:spcAft>
                <a:spcPts val="1400"/>
              </a:spcAft>
              <a:buNone/>
            </a:pPr>
            <a:r>
              <a:rPr lang="en-US" sz="1450" dirty="0">
                <a:solidFill>
                  <a:srgbClr val="1A2333"/>
                </a:solidFill>
                <a:latin typeface="Calibri" pitchFamily="34" charset="0"/>
                <a:ea typeface="Calibri" pitchFamily="34" charset="-122"/>
                <a:cs typeface="Calibri" pitchFamily="34" charset="-120"/>
              </a:rPr>
              <a:t>That single decision explains the whole interface: every screen leads with volume, split and consistency rather than one hero number, and the database ships with five weeks of history instead of an empty table.</a:t>
            </a:r>
            <a:endParaRPr lang="en-US" sz="1450" dirty="0"/>
          </a:p>
        </p:txBody>
      </p:sp>
      <p:sp>
        <p:nvSpPr>
          <p:cNvPr id="5" name="Shape 3"/>
          <p:cNvSpPr/>
          <p:nvPr/>
        </p:nvSpPr>
        <p:spPr>
          <a:xfrm>
            <a:off x="6720840" y="2331720"/>
            <a:ext cx="2331720" cy="1234440"/>
          </a:xfrm>
          <a:prstGeom prst="roundRect">
            <a:avLst>
              <a:gd name="adj" fmla="val 5926"/>
            </a:avLst>
          </a:prstGeom>
          <a:solidFill>
            <a:srgbClr val="F6F7FB"/>
          </a:solidFill>
          <a:ln w="12700">
            <a:solidFill>
              <a:srgbClr val="E4E7EF"/>
            </a:solidFill>
            <a:prstDash val="solid"/>
          </a:ln>
        </p:spPr>
      </p:sp>
      <p:sp>
        <p:nvSpPr>
          <p:cNvPr id="6" name="Text 4"/>
          <p:cNvSpPr/>
          <p:nvPr/>
        </p:nvSpPr>
        <p:spPr>
          <a:xfrm>
            <a:off x="6922008" y="2496312"/>
            <a:ext cx="1929384" cy="566928"/>
          </a:xfrm>
          <a:prstGeom prst="rect">
            <a:avLst/>
          </a:prstGeom>
          <a:noFill/>
          <a:ln/>
        </p:spPr>
        <p:txBody>
          <a:bodyPr wrap="square" lIns="0" tIns="0" rIns="0" bIns="0" rtlCol="0" anchor="t"/>
          <a:lstStyle/>
          <a:p>
            <a:pPr indent="0" marL="0">
              <a:buNone/>
            </a:pPr>
            <a:r>
              <a:rPr lang="en-US" sz="3000" b="1" dirty="0">
                <a:solidFill>
                  <a:srgbClr val="0E1420"/>
                </a:solidFill>
                <a:latin typeface="Arial" pitchFamily="34" charset="0"/>
                <a:ea typeface="Arial" pitchFamily="34" charset="-122"/>
                <a:cs typeface="Arial" pitchFamily="34" charset="-120"/>
              </a:rPr>
              <a:t>64</a:t>
            </a:r>
            <a:endParaRPr lang="en-US" sz="3000" dirty="0"/>
          </a:p>
        </p:txBody>
      </p:sp>
      <p:sp>
        <p:nvSpPr>
          <p:cNvPr id="7" name="Text 5"/>
          <p:cNvSpPr/>
          <p:nvPr/>
        </p:nvSpPr>
        <p:spPr>
          <a:xfrm>
            <a:off x="6922008" y="3081528"/>
            <a:ext cx="1929384" cy="320040"/>
          </a:xfrm>
          <a:prstGeom prst="rect">
            <a:avLst/>
          </a:prstGeom>
          <a:noFill/>
          <a:ln/>
        </p:spPr>
        <p:txBody>
          <a:bodyPr wrap="square" lIns="0" tIns="0" rIns="0" bIns="0" rtlCol="0" anchor="t"/>
          <a:lstStyle/>
          <a:p>
            <a:pPr indent="0" marL="0">
              <a:buNone/>
            </a:pPr>
            <a:r>
              <a:rPr lang="en-US" sz="1000" b="1" spc="100" kern="0" dirty="0">
                <a:solidFill>
                  <a:srgbClr val="64748B"/>
                </a:solidFill>
                <a:latin typeface="Calibri" pitchFamily="34" charset="0"/>
                <a:ea typeface="Calibri" pitchFamily="34" charset="-122"/>
                <a:cs typeface="Calibri" pitchFamily="34" charset="-120"/>
              </a:rPr>
              <a:t>SESSIONS SEEDED</a:t>
            </a:r>
            <a:endParaRPr lang="en-US" sz="1000" dirty="0"/>
          </a:p>
        </p:txBody>
      </p:sp>
      <p:sp>
        <p:nvSpPr>
          <p:cNvPr id="8" name="Shape 6"/>
          <p:cNvSpPr/>
          <p:nvPr/>
        </p:nvSpPr>
        <p:spPr>
          <a:xfrm>
            <a:off x="9281160" y="2331720"/>
            <a:ext cx="2240280" cy="1234440"/>
          </a:xfrm>
          <a:prstGeom prst="roundRect">
            <a:avLst>
              <a:gd name="adj" fmla="val 5926"/>
            </a:avLst>
          </a:prstGeom>
          <a:solidFill>
            <a:srgbClr val="F6F7FB"/>
          </a:solidFill>
          <a:ln w="12700">
            <a:solidFill>
              <a:srgbClr val="E4E7EF"/>
            </a:solidFill>
            <a:prstDash val="solid"/>
          </a:ln>
        </p:spPr>
      </p:sp>
      <p:sp>
        <p:nvSpPr>
          <p:cNvPr id="9" name="Text 7"/>
          <p:cNvSpPr/>
          <p:nvPr/>
        </p:nvSpPr>
        <p:spPr>
          <a:xfrm>
            <a:off x="9482328" y="2496312"/>
            <a:ext cx="1837944" cy="566928"/>
          </a:xfrm>
          <a:prstGeom prst="rect">
            <a:avLst/>
          </a:prstGeom>
          <a:noFill/>
          <a:ln/>
        </p:spPr>
        <p:txBody>
          <a:bodyPr wrap="square" lIns="0" tIns="0" rIns="0" bIns="0" rtlCol="0" anchor="t"/>
          <a:lstStyle/>
          <a:p>
            <a:pPr indent="0" marL="0">
              <a:buNone/>
            </a:pPr>
            <a:r>
              <a:rPr lang="en-US" sz="3000" b="1" dirty="0">
                <a:solidFill>
                  <a:srgbClr val="0E1420"/>
                </a:solidFill>
                <a:latin typeface="Arial" pitchFamily="34" charset="0"/>
                <a:ea typeface="Arial" pitchFamily="34" charset="-122"/>
                <a:cs typeface="Arial" pitchFamily="34" charset="-120"/>
              </a:rPr>
              <a:t>7</a:t>
            </a:r>
            <a:endParaRPr lang="en-US" sz="3000" dirty="0"/>
          </a:p>
        </p:txBody>
      </p:sp>
      <p:sp>
        <p:nvSpPr>
          <p:cNvPr id="10" name="Text 8"/>
          <p:cNvSpPr/>
          <p:nvPr/>
        </p:nvSpPr>
        <p:spPr>
          <a:xfrm>
            <a:off x="9482328" y="3081528"/>
            <a:ext cx="1837944" cy="320040"/>
          </a:xfrm>
          <a:prstGeom prst="rect">
            <a:avLst/>
          </a:prstGeom>
          <a:noFill/>
          <a:ln/>
        </p:spPr>
        <p:txBody>
          <a:bodyPr wrap="square" lIns="0" tIns="0" rIns="0" bIns="0" rtlCol="0" anchor="t"/>
          <a:lstStyle/>
          <a:p>
            <a:pPr indent="0" marL="0">
              <a:buNone/>
            </a:pPr>
            <a:r>
              <a:rPr lang="en-US" sz="1000" b="1" spc="100" kern="0" dirty="0">
                <a:solidFill>
                  <a:srgbClr val="64748B"/>
                </a:solidFill>
                <a:latin typeface="Calibri" pitchFamily="34" charset="0"/>
                <a:ea typeface="Calibri" pitchFamily="34" charset="-122"/>
                <a:cs typeface="Calibri" pitchFamily="34" charset="-120"/>
              </a:rPr>
              <a:t>DEMO ACCOUNTS</a:t>
            </a:r>
            <a:endParaRPr lang="en-US" sz="1000" dirty="0"/>
          </a:p>
        </p:txBody>
      </p:sp>
      <p:sp>
        <p:nvSpPr>
          <p:cNvPr id="11" name="Shape 9"/>
          <p:cNvSpPr/>
          <p:nvPr/>
        </p:nvSpPr>
        <p:spPr>
          <a:xfrm>
            <a:off x="6720840" y="3794760"/>
            <a:ext cx="2331720" cy="1234440"/>
          </a:xfrm>
          <a:prstGeom prst="roundRect">
            <a:avLst>
              <a:gd name="adj" fmla="val 5926"/>
            </a:avLst>
          </a:prstGeom>
          <a:solidFill>
            <a:srgbClr val="F6F7FB"/>
          </a:solidFill>
          <a:ln w="12700">
            <a:solidFill>
              <a:srgbClr val="E4E7EF"/>
            </a:solidFill>
            <a:prstDash val="solid"/>
          </a:ln>
        </p:spPr>
      </p:sp>
      <p:sp>
        <p:nvSpPr>
          <p:cNvPr id="12" name="Text 10"/>
          <p:cNvSpPr/>
          <p:nvPr/>
        </p:nvSpPr>
        <p:spPr>
          <a:xfrm>
            <a:off x="6922008" y="3959352"/>
            <a:ext cx="1929384" cy="566928"/>
          </a:xfrm>
          <a:prstGeom prst="rect">
            <a:avLst/>
          </a:prstGeom>
          <a:noFill/>
          <a:ln/>
        </p:spPr>
        <p:txBody>
          <a:bodyPr wrap="square" lIns="0" tIns="0" rIns="0" bIns="0" rtlCol="0" anchor="t"/>
          <a:lstStyle/>
          <a:p>
            <a:pPr indent="0" marL="0">
              <a:buNone/>
            </a:pPr>
            <a:r>
              <a:rPr lang="en-US" sz="3000" b="1" dirty="0">
                <a:solidFill>
                  <a:srgbClr val="0E1420"/>
                </a:solidFill>
                <a:latin typeface="Arial" pitchFamily="34" charset="0"/>
                <a:ea typeface="Arial" pitchFamily="34" charset="-122"/>
                <a:cs typeface="Arial" pitchFamily="34" charset="-120"/>
              </a:rPr>
              <a:t>2</a:t>
            </a:r>
            <a:endParaRPr lang="en-US" sz="3000" dirty="0"/>
          </a:p>
        </p:txBody>
      </p:sp>
      <p:sp>
        <p:nvSpPr>
          <p:cNvPr id="13" name="Text 11"/>
          <p:cNvSpPr/>
          <p:nvPr/>
        </p:nvSpPr>
        <p:spPr>
          <a:xfrm>
            <a:off x="6922008" y="4544568"/>
            <a:ext cx="1929384" cy="320040"/>
          </a:xfrm>
          <a:prstGeom prst="rect">
            <a:avLst/>
          </a:prstGeom>
          <a:noFill/>
          <a:ln/>
        </p:spPr>
        <p:txBody>
          <a:bodyPr wrap="square" lIns="0" tIns="0" rIns="0" bIns="0" rtlCol="0" anchor="t"/>
          <a:lstStyle/>
          <a:p>
            <a:pPr indent="0" marL="0">
              <a:buNone/>
            </a:pPr>
            <a:r>
              <a:rPr lang="en-US" sz="1000" b="1" spc="100" kern="0" dirty="0">
                <a:solidFill>
                  <a:srgbClr val="64748B"/>
                </a:solidFill>
                <a:latin typeface="Calibri" pitchFamily="34" charset="0"/>
                <a:ea typeface="Calibri" pitchFamily="34" charset="-122"/>
                <a:cs typeface="Calibri" pitchFamily="34" charset="-120"/>
              </a:rPr>
              <a:t>SPRING BOOT APPS</a:t>
            </a:r>
            <a:endParaRPr lang="en-US" sz="1000" dirty="0"/>
          </a:p>
        </p:txBody>
      </p:sp>
      <p:sp>
        <p:nvSpPr>
          <p:cNvPr id="14" name="Shape 12"/>
          <p:cNvSpPr/>
          <p:nvPr/>
        </p:nvSpPr>
        <p:spPr>
          <a:xfrm>
            <a:off x="9281160" y="3794760"/>
            <a:ext cx="2240280" cy="1234440"/>
          </a:xfrm>
          <a:prstGeom prst="roundRect">
            <a:avLst>
              <a:gd name="adj" fmla="val 5926"/>
            </a:avLst>
          </a:prstGeom>
          <a:solidFill>
            <a:srgbClr val="F6F7FB"/>
          </a:solidFill>
          <a:ln w="12700">
            <a:solidFill>
              <a:srgbClr val="E4E7EF"/>
            </a:solidFill>
            <a:prstDash val="solid"/>
          </a:ln>
        </p:spPr>
      </p:sp>
      <p:sp>
        <p:nvSpPr>
          <p:cNvPr id="15" name="Text 13"/>
          <p:cNvSpPr/>
          <p:nvPr/>
        </p:nvSpPr>
        <p:spPr>
          <a:xfrm>
            <a:off x="9482328" y="3959352"/>
            <a:ext cx="1837944" cy="566928"/>
          </a:xfrm>
          <a:prstGeom prst="rect">
            <a:avLst/>
          </a:prstGeom>
          <a:noFill/>
          <a:ln/>
        </p:spPr>
        <p:txBody>
          <a:bodyPr wrap="square" lIns="0" tIns="0" rIns="0" bIns="0" rtlCol="0" anchor="t"/>
          <a:lstStyle/>
          <a:p>
            <a:pPr indent="0" marL="0">
              <a:buNone/>
            </a:pPr>
            <a:r>
              <a:rPr lang="en-US" sz="3000" b="1" dirty="0">
                <a:solidFill>
                  <a:srgbClr val="0E1420"/>
                </a:solidFill>
                <a:latin typeface="Arial" pitchFamily="34" charset="0"/>
                <a:ea typeface="Arial" pitchFamily="34" charset="-122"/>
                <a:cs typeface="Arial" pitchFamily="34" charset="-120"/>
              </a:rPr>
              <a:t>71</a:t>
            </a:r>
            <a:endParaRPr lang="en-US" sz="3000" dirty="0"/>
          </a:p>
        </p:txBody>
      </p:sp>
      <p:sp>
        <p:nvSpPr>
          <p:cNvPr id="16" name="Text 14"/>
          <p:cNvSpPr/>
          <p:nvPr/>
        </p:nvSpPr>
        <p:spPr>
          <a:xfrm>
            <a:off x="9482328" y="4544568"/>
            <a:ext cx="1837944" cy="320040"/>
          </a:xfrm>
          <a:prstGeom prst="rect">
            <a:avLst/>
          </a:prstGeom>
          <a:noFill/>
          <a:ln/>
        </p:spPr>
        <p:txBody>
          <a:bodyPr wrap="square" lIns="0" tIns="0" rIns="0" bIns="0" rtlCol="0" anchor="t"/>
          <a:lstStyle/>
          <a:p>
            <a:pPr indent="0" marL="0">
              <a:buNone/>
            </a:pPr>
            <a:r>
              <a:rPr lang="en-US" sz="1000" b="1" spc="100" kern="0" dirty="0">
                <a:solidFill>
                  <a:srgbClr val="64748B"/>
                </a:solidFill>
                <a:latin typeface="Calibri" pitchFamily="34" charset="0"/>
                <a:ea typeface="Calibri" pitchFamily="34" charset="-122"/>
                <a:cs typeface="Calibri" pitchFamily="34" charset="-120"/>
              </a:rPr>
              <a:t>PASSING TESTS</a:t>
            </a:r>
            <a:endParaRPr lang="en-US" sz="1000" dirty="0"/>
          </a:p>
        </p:txBody>
      </p:sp>
      <p:sp>
        <p:nvSpPr>
          <p:cNvPr id="17" name="Text 15"/>
          <p:cNvSpPr/>
          <p:nvPr/>
        </p:nvSpPr>
        <p:spPr>
          <a:xfrm>
            <a:off x="6720840" y="5212080"/>
            <a:ext cx="4800600" cy="457200"/>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Every figure on this slide comes from the seed data a reviewer gets on a fresh clone.</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7315200" cy="274320"/>
          </a:xfrm>
          <a:prstGeom prst="rect">
            <a:avLst/>
          </a:prstGeom>
          <a:noFill/>
          <a:ln/>
        </p:spPr>
        <p:txBody>
          <a:bodyPr wrap="square" lIns="0" tIns="0" rIns="0" bIns="0" rtlCol="0" anchor="ctr"/>
          <a:lstStyle/>
          <a:p>
            <a:pPr indent="0" marL="0">
              <a:buNone/>
            </a:pPr>
            <a:r>
              <a:rPr lang="en-US" sz="1100" b="1" spc="200" kern="0" dirty="0">
                <a:solidFill>
                  <a:srgbClr val="FF5A3C"/>
                </a:solidFill>
                <a:latin typeface="Arial" pitchFamily="34" charset="0"/>
                <a:ea typeface="Arial" pitchFamily="34" charset="-122"/>
                <a:cs typeface="Arial" pitchFamily="34" charset="-120"/>
              </a:rPr>
              <a:t>LIVE DEMO · PART ONE</a:t>
            </a:r>
            <a:endParaRPr lang="en-US" sz="1100" dirty="0"/>
          </a:p>
        </p:txBody>
      </p:sp>
      <p:sp>
        <p:nvSpPr>
          <p:cNvPr id="3" name="Text 1"/>
          <p:cNvSpPr/>
          <p:nvPr/>
        </p:nvSpPr>
        <p:spPr>
          <a:xfrm>
            <a:off x="640080" y="777240"/>
            <a:ext cx="10881360" cy="1234440"/>
          </a:xfrm>
          <a:prstGeom prst="rect">
            <a:avLst/>
          </a:prstGeom>
          <a:noFill/>
          <a:ln/>
        </p:spPr>
        <p:txBody>
          <a:bodyPr wrap="square" lIns="0" tIns="0" rIns="0" bIns="0" rtlCol="0" anchor="t"/>
          <a:lstStyle/>
          <a:p>
            <a:pPr indent="0" marL="0">
              <a:buNone/>
            </a:pPr>
            <a:r>
              <a:rPr lang="en-US" sz="3400" b="1" dirty="0">
                <a:solidFill>
                  <a:srgbClr val="0E1420"/>
                </a:solidFill>
                <a:latin typeface="Arial" pitchFamily="34" charset="0"/>
                <a:ea typeface="Arial" pitchFamily="34" charset="-122"/>
                <a:cs typeface="Arial" pitchFamily="34" charset="-120"/>
              </a:rPr>
              <a:t>Three roles that actually change what you can do</a:t>
            </a:r>
            <a:endParaRPr lang="en-US" sz="3400" dirty="0"/>
          </a:p>
        </p:txBody>
      </p:sp>
      <p:sp>
        <p:nvSpPr>
          <p:cNvPr id="4" name="Shape 2"/>
          <p:cNvSpPr/>
          <p:nvPr/>
        </p:nvSpPr>
        <p:spPr>
          <a:xfrm>
            <a:off x="640080" y="2286000"/>
            <a:ext cx="420624" cy="420624"/>
          </a:xfrm>
          <a:prstGeom prst="ellipse">
            <a:avLst/>
          </a:prstGeom>
          <a:solidFill>
            <a:srgbClr val="FF5A3C"/>
          </a:solidFill>
          <a:ln/>
        </p:spPr>
      </p:sp>
      <p:sp>
        <p:nvSpPr>
          <p:cNvPr id="5" name="Text 3"/>
          <p:cNvSpPr/>
          <p:nvPr/>
        </p:nvSpPr>
        <p:spPr>
          <a:xfrm>
            <a:off x="640080" y="2336292"/>
            <a:ext cx="420624" cy="329184"/>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6" name="Text 4"/>
          <p:cNvSpPr/>
          <p:nvPr/>
        </p:nvSpPr>
        <p:spPr>
          <a:xfrm>
            <a:off x="1261872" y="2267712"/>
            <a:ext cx="2807208" cy="310896"/>
          </a:xfrm>
          <a:prstGeom prst="rect">
            <a:avLst/>
          </a:prstGeom>
          <a:noFill/>
          <a:ln/>
        </p:spPr>
        <p:txBody>
          <a:bodyPr wrap="square" lIns="0" tIns="0" rIns="0" bIns="0" rtlCol="0" anchor="t"/>
          <a:lstStyle/>
          <a:p>
            <a:pPr indent="0" marL="0">
              <a:buNone/>
            </a:pPr>
            <a:r>
              <a:rPr lang="en-US" sz="1600" b="1" dirty="0">
                <a:solidFill>
                  <a:srgbClr val="0E1420"/>
                </a:solidFill>
                <a:latin typeface="Arial" pitchFamily="34" charset="0"/>
                <a:ea typeface="Arial" pitchFamily="34" charset="-122"/>
                <a:cs typeface="Arial" pitchFamily="34" charset="-120"/>
              </a:rPr>
              <a:t>Member</a:t>
            </a:r>
            <a:endParaRPr lang="en-US" sz="1600" dirty="0"/>
          </a:p>
        </p:txBody>
      </p:sp>
      <p:sp>
        <p:nvSpPr>
          <p:cNvPr id="7" name="Text 5"/>
          <p:cNvSpPr/>
          <p:nvPr/>
        </p:nvSpPr>
        <p:spPr>
          <a:xfrm>
            <a:off x="1261872" y="2596896"/>
            <a:ext cx="2807208" cy="685800"/>
          </a:xfrm>
          <a:prstGeom prst="rect">
            <a:avLst/>
          </a:prstGeom>
          <a:noFill/>
          <a:ln/>
        </p:spPr>
        <p:txBody>
          <a:bodyPr wrap="square" lIns="0" tIns="0" rIns="0" bIns="0" rtlCol="0" anchor="t"/>
          <a:lstStyle/>
          <a:p>
            <a:pPr indent="0" marL="0">
              <a:buNone/>
            </a:pPr>
            <a:r>
              <a:rPr lang="en-US" sz="1300" dirty="0">
                <a:solidFill>
                  <a:srgbClr val="64748B"/>
                </a:solidFill>
                <a:latin typeface="Calibri" pitchFamily="34" charset="0"/>
                <a:ea typeface="Calibri" pitchFamily="34" charset="-122"/>
                <a:cs typeface="Calibri" pitchFamily="34" charset="-120"/>
              </a:rPr>
              <a:t>Logs sessions, browses the training log, enrols in programs, and requests a nutrition plan. Can edit only their own sessions.</a:t>
            </a:r>
            <a:endParaRPr lang="en-US" sz="1300" dirty="0"/>
          </a:p>
        </p:txBody>
      </p:sp>
      <p:sp>
        <p:nvSpPr>
          <p:cNvPr id="8" name="Shape 6"/>
          <p:cNvSpPr/>
          <p:nvPr/>
        </p:nvSpPr>
        <p:spPr>
          <a:xfrm>
            <a:off x="4343400" y="2286000"/>
            <a:ext cx="420624" cy="420624"/>
          </a:xfrm>
          <a:prstGeom prst="ellipse">
            <a:avLst/>
          </a:prstGeom>
          <a:solidFill>
            <a:srgbClr val="0E1420"/>
          </a:solidFill>
          <a:ln/>
        </p:spPr>
      </p:sp>
      <p:sp>
        <p:nvSpPr>
          <p:cNvPr id="9" name="Text 7"/>
          <p:cNvSpPr/>
          <p:nvPr/>
        </p:nvSpPr>
        <p:spPr>
          <a:xfrm>
            <a:off x="4343400" y="2336292"/>
            <a:ext cx="420624" cy="329184"/>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0" name="Text 8"/>
          <p:cNvSpPr/>
          <p:nvPr/>
        </p:nvSpPr>
        <p:spPr>
          <a:xfrm>
            <a:off x="4965192" y="2267712"/>
            <a:ext cx="2807208" cy="310896"/>
          </a:xfrm>
          <a:prstGeom prst="rect">
            <a:avLst/>
          </a:prstGeom>
          <a:noFill/>
          <a:ln/>
        </p:spPr>
        <p:txBody>
          <a:bodyPr wrap="square" lIns="0" tIns="0" rIns="0" bIns="0" rtlCol="0" anchor="t"/>
          <a:lstStyle/>
          <a:p>
            <a:pPr indent="0" marL="0">
              <a:buNone/>
            </a:pPr>
            <a:r>
              <a:rPr lang="en-US" sz="1600" b="1" dirty="0">
                <a:solidFill>
                  <a:srgbClr val="0E1420"/>
                </a:solidFill>
                <a:latin typeface="Arial" pitchFamily="34" charset="0"/>
                <a:ea typeface="Arial" pitchFamily="34" charset="-122"/>
                <a:cs typeface="Arial" pitchFamily="34" charset="-120"/>
              </a:rPr>
              <a:t>Coach</a:t>
            </a:r>
            <a:endParaRPr lang="en-US" sz="1600" dirty="0"/>
          </a:p>
        </p:txBody>
      </p:sp>
      <p:sp>
        <p:nvSpPr>
          <p:cNvPr id="11" name="Text 9"/>
          <p:cNvSpPr/>
          <p:nvPr/>
        </p:nvSpPr>
        <p:spPr>
          <a:xfrm>
            <a:off x="4965192" y="2596896"/>
            <a:ext cx="2807208" cy="685800"/>
          </a:xfrm>
          <a:prstGeom prst="rect">
            <a:avLst/>
          </a:prstGeom>
          <a:noFill/>
          <a:ln/>
        </p:spPr>
        <p:txBody>
          <a:bodyPr wrap="square" lIns="0" tIns="0" rIns="0" bIns="0" rtlCol="0" anchor="t"/>
          <a:lstStyle/>
          <a:p>
            <a:pPr indent="0" marL="0">
              <a:buNone/>
            </a:pPr>
            <a:r>
              <a:rPr lang="en-US" sz="1300" dirty="0">
                <a:solidFill>
                  <a:srgbClr val="64748B"/>
                </a:solidFill>
                <a:latin typeface="Calibri" pitchFamily="34" charset="0"/>
                <a:ea typeface="Calibri" pitchFamily="34" charset="-122"/>
                <a:cs typeface="Calibri" pitchFamily="34" charset="-120"/>
              </a:rPr>
              <a:t>Everything a member can do, plus authoring multi-week training programs and reviewing the whole roster's log.</a:t>
            </a:r>
            <a:endParaRPr lang="en-US" sz="1300" dirty="0"/>
          </a:p>
        </p:txBody>
      </p:sp>
      <p:sp>
        <p:nvSpPr>
          <p:cNvPr id="12" name="Shape 10"/>
          <p:cNvSpPr/>
          <p:nvPr/>
        </p:nvSpPr>
        <p:spPr>
          <a:xfrm>
            <a:off x="8092440" y="2286000"/>
            <a:ext cx="420624" cy="420624"/>
          </a:xfrm>
          <a:prstGeom prst="ellipse">
            <a:avLst/>
          </a:prstGeom>
          <a:solidFill>
            <a:srgbClr val="16A34A"/>
          </a:solidFill>
          <a:ln/>
        </p:spPr>
      </p:sp>
      <p:sp>
        <p:nvSpPr>
          <p:cNvPr id="13" name="Text 11"/>
          <p:cNvSpPr/>
          <p:nvPr/>
        </p:nvSpPr>
        <p:spPr>
          <a:xfrm>
            <a:off x="8092440" y="2336292"/>
            <a:ext cx="420624" cy="329184"/>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14" name="Text 12"/>
          <p:cNvSpPr/>
          <p:nvPr/>
        </p:nvSpPr>
        <p:spPr>
          <a:xfrm>
            <a:off x="8714232" y="2267712"/>
            <a:ext cx="2807208" cy="310896"/>
          </a:xfrm>
          <a:prstGeom prst="rect">
            <a:avLst/>
          </a:prstGeom>
          <a:noFill/>
          <a:ln/>
        </p:spPr>
        <p:txBody>
          <a:bodyPr wrap="square" lIns="0" tIns="0" rIns="0" bIns="0" rtlCol="0" anchor="t"/>
          <a:lstStyle/>
          <a:p>
            <a:pPr indent="0" marL="0">
              <a:buNone/>
            </a:pPr>
            <a:r>
              <a:rPr lang="en-US" sz="1600" b="1" dirty="0">
                <a:solidFill>
                  <a:srgbClr val="0E1420"/>
                </a:solidFill>
                <a:latin typeface="Arial" pitchFamily="34" charset="0"/>
                <a:ea typeface="Arial" pitchFamily="34" charset="-122"/>
                <a:cs typeface="Arial" pitchFamily="34" charset="-120"/>
              </a:rPr>
              <a:t>Administrator</a:t>
            </a:r>
            <a:endParaRPr lang="en-US" sz="1600" dirty="0"/>
          </a:p>
        </p:txBody>
      </p:sp>
      <p:sp>
        <p:nvSpPr>
          <p:cNvPr id="15" name="Text 13"/>
          <p:cNvSpPr/>
          <p:nvPr/>
        </p:nvSpPr>
        <p:spPr>
          <a:xfrm>
            <a:off x="8714232" y="2596896"/>
            <a:ext cx="2807208" cy="685800"/>
          </a:xfrm>
          <a:prstGeom prst="rect">
            <a:avLst/>
          </a:prstGeom>
          <a:noFill/>
          <a:ln/>
        </p:spPr>
        <p:txBody>
          <a:bodyPr wrap="square" lIns="0" tIns="0" rIns="0" bIns="0" rtlCol="0" anchor="t"/>
          <a:lstStyle/>
          <a:p>
            <a:pPr indent="0" marL="0">
              <a:buNone/>
            </a:pPr>
            <a:r>
              <a:rPr lang="en-US" sz="1300" dirty="0">
                <a:solidFill>
                  <a:srgbClr val="64748B"/>
                </a:solidFill>
                <a:latin typeface="Calibri" pitchFamily="34" charset="0"/>
                <a:ea typeface="Calibri" pitchFamily="34" charset="-122"/>
                <a:cs typeface="Calibri" pitchFamily="34" charset="-120"/>
              </a:rPr>
              <a:t>The /admin console: change roles, suspend or delete accounts, edit any workout, and manage the remote nutrition service.</a:t>
            </a:r>
            <a:endParaRPr lang="en-US" sz="1300" dirty="0"/>
          </a:p>
        </p:txBody>
      </p:sp>
      <p:sp>
        <p:nvSpPr>
          <p:cNvPr id="16" name="Shape 14"/>
          <p:cNvSpPr/>
          <p:nvPr/>
        </p:nvSpPr>
        <p:spPr>
          <a:xfrm>
            <a:off x="640080" y="4251960"/>
            <a:ext cx="10881360" cy="1600200"/>
          </a:xfrm>
          <a:prstGeom prst="roundRect">
            <a:avLst>
              <a:gd name="adj" fmla="val 4571"/>
            </a:avLst>
          </a:prstGeom>
          <a:solidFill>
            <a:srgbClr val="0E1420"/>
          </a:solidFill>
          <a:ln w="12700">
            <a:solidFill>
              <a:srgbClr val="0E1420"/>
            </a:solidFill>
            <a:prstDash val="solid"/>
          </a:ln>
        </p:spPr>
      </p:sp>
      <p:sp>
        <p:nvSpPr>
          <p:cNvPr id="17" name="Text 15"/>
          <p:cNvSpPr/>
          <p:nvPr/>
        </p:nvSpPr>
        <p:spPr>
          <a:xfrm>
            <a:off x="960120" y="4480560"/>
            <a:ext cx="10058400" cy="365760"/>
          </a:xfrm>
          <a:prstGeom prst="rect">
            <a:avLst/>
          </a:prstGeom>
          <a:noFill/>
          <a:ln/>
        </p:spPr>
        <p:txBody>
          <a:bodyPr wrap="square" lIns="0" tIns="0" rIns="0" bIns="0" rtlCol="0" anchor="ctr"/>
          <a:lstStyle/>
          <a:p>
            <a:pPr indent="0" marL="0">
              <a:buNone/>
            </a:pPr>
            <a:r>
              <a:rPr lang="en-US" sz="1700" b="1" dirty="0">
                <a:solidFill>
                  <a:srgbClr val="C8F24C"/>
                </a:solidFill>
                <a:latin typeface="Arial" pitchFamily="34" charset="0"/>
                <a:ea typeface="Arial" pitchFamily="34" charset="-122"/>
                <a:cs typeface="Arial" pitchFamily="34" charset="-120"/>
              </a:rPr>
              <a:t>The roles are not labels.</a:t>
            </a:r>
            <a:endParaRPr lang="en-US" sz="1700" dirty="0"/>
          </a:p>
        </p:txBody>
      </p:sp>
      <p:sp>
        <p:nvSpPr>
          <p:cNvPr id="18" name="Text 16"/>
          <p:cNvSpPr/>
          <p:nvPr/>
        </p:nvSpPr>
        <p:spPr>
          <a:xfrm>
            <a:off x="960120" y="4892040"/>
            <a:ext cx="10424160" cy="822960"/>
          </a:xfrm>
          <a:prstGeom prst="rect">
            <a:avLst/>
          </a:prstGeom>
          <a:noFill/>
          <a:ln/>
        </p:spPr>
        <p:txBody>
          <a:bodyPr wrap="square" lIns="0" tIns="0" rIns="0" bIns="0" rtlCol="0" anchor="ctr"/>
          <a:lstStyle/>
          <a:p>
            <a:pPr indent="0" marL="0">
              <a:lnSpc>
                <a:spcPct val="125000"/>
              </a:lnSpc>
              <a:buNone/>
            </a:pPr>
            <a:r>
              <a:rPr lang="en-US" sz="1300" dirty="0">
                <a:solidFill>
                  <a:srgbClr val="C9CFDA"/>
                </a:solidFill>
                <a:latin typeface="Calibri" pitchFamily="34" charset="0"/>
                <a:ea typeface="Calibri" pitchFamily="34" charset="-122"/>
                <a:cs typeface="Calibri" pitchFamily="34" charset="-120"/>
              </a:rPr>
              <a:t>A member who requests /admin gets a 403, not a redirect. A member who guesses another member's workout URL is refused by an ownership check in the service layer, not just by the filter chain. And the last remaining administrator cannot be demoted, suspended or deleted.</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7315200" cy="274320"/>
          </a:xfrm>
          <a:prstGeom prst="rect">
            <a:avLst/>
          </a:prstGeom>
          <a:noFill/>
          <a:ln/>
        </p:spPr>
        <p:txBody>
          <a:bodyPr wrap="square" lIns="0" tIns="0" rIns="0" bIns="0" rtlCol="0" anchor="ctr"/>
          <a:lstStyle/>
          <a:p>
            <a:pPr indent="0" marL="0">
              <a:buNone/>
            </a:pPr>
            <a:r>
              <a:rPr lang="en-US" sz="1100" b="1" spc="200" kern="0" dirty="0">
                <a:solidFill>
                  <a:srgbClr val="FF5A3C"/>
                </a:solidFill>
                <a:latin typeface="Arial" pitchFamily="34" charset="0"/>
                <a:ea typeface="Arial" pitchFamily="34" charset="-122"/>
                <a:cs typeface="Arial" pitchFamily="34" charset="-120"/>
              </a:rPr>
              <a:t>ARCHITECTURE</a:t>
            </a:r>
            <a:endParaRPr lang="en-US" sz="1100" dirty="0"/>
          </a:p>
        </p:txBody>
      </p:sp>
      <p:sp>
        <p:nvSpPr>
          <p:cNvPr id="3" name="Text 1"/>
          <p:cNvSpPr/>
          <p:nvPr/>
        </p:nvSpPr>
        <p:spPr>
          <a:xfrm>
            <a:off x="640080" y="777240"/>
            <a:ext cx="10881360" cy="1234440"/>
          </a:xfrm>
          <a:prstGeom prst="rect">
            <a:avLst/>
          </a:prstGeom>
          <a:noFill/>
          <a:ln/>
        </p:spPr>
        <p:txBody>
          <a:bodyPr wrap="square" lIns="0" tIns="0" rIns="0" bIns="0" rtlCol="0" anchor="t"/>
          <a:lstStyle/>
          <a:p>
            <a:pPr indent="0" marL="0">
              <a:buNone/>
            </a:pPr>
            <a:r>
              <a:rPr lang="en-US" sz="3400" b="1" dirty="0">
                <a:solidFill>
                  <a:srgbClr val="0E1420"/>
                </a:solidFill>
                <a:latin typeface="Arial" pitchFamily="34" charset="0"/>
                <a:ea typeface="Arial" pitchFamily="34" charset="-122"/>
                <a:cs typeface="Arial" pitchFamily="34" charset="-120"/>
              </a:rPr>
              <a:t>Two applications, two databases, one contract</a:t>
            </a:r>
            <a:endParaRPr lang="en-US" sz="3400" dirty="0"/>
          </a:p>
        </p:txBody>
      </p:sp>
      <p:sp>
        <p:nvSpPr>
          <p:cNvPr id="4" name="Shape 2"/>
          <p:cNvSpPr/>
          <p:nvPr/>
        </p:nvSpPr>
        <p:spPr>
          <a:xfrm>
            <a:off x="640080" y="2194560"/>
            <a:ext cx="4023360" cy="1691640"/>
          </a:xfrm>
          <a:prstGeom prst="roundRect">
            <a:avLst>
              <a:gd name="adj" fmla="val 3243"/>
            </a:avLst>
          </a:prstGeom>
          <a:solidFill>
            <a:srgbClr val="0E1420"/>
          </a:solidFill>
          <a:ln w="15875">
            <a:solidFill>
              <a:srgbClr val="0E1420"/>
            </a:solidFill>
            <a:prstDash val="solid"/>
          </a:ln>
        </p:spPr>
      </p:sp>
      <p:sp>
        <p:nvSpPr>
          <p:cNvPr id="5" name="Text 3"/>
          <p:cNvSpPr/>
          <p:nvPr/>
        </p:nvSpPr>
        <p:spPr>
          <a:xfrm>
            <a:off x="804672" y="2340864"/>
            <a:ext cx="3694176" cy="301752"/>
          </a:xfrm>
          <a:prstGeom prst="rect">
            <a:avLst/>
          </a:prstGeom>
          <a:noFill/>
          <a:ln/>
        </p:spPr>
        <p:txBody>
          <a:bodyPr wrap="square" lIns="0" tIns="0" rIns="0" bIns="0" rtlCol="0" anchor="t"/>
          <a:lstStyle/>
          <a:p>
            <a:pPr indent="0" marL="0">
              <a:buNone/>
            </a:pPr>
            <a:r>
              <a:rPr lang="en-US" sz="1350" b="1" dirty="0">
                <a:solidFill>
                  <a:srgbClr val="FFFFFF"/>
                </a:solidFill>
                <a:latin typeface="Arial" pitchFamily="34" charset="0"/>
                <a:ea typeface="Arial" pitchFamily="34" charset="-122"/>
                <a:cs typeface="Arial" pitchFamily="34" charset="-120"/>
              </a:rPr>
              <a:t>PulseTrack Web   :8080</a:t>
            </a:r>
            <a:endParaRPr lang="en-US" sz="1350" dirty="0"/>
          </a:p>
        </p:txBody>
      </p:sp>
      <p:sp>
        <p:nvSpPr>
          <p:cNvPr id="6" name="Text 4"/>
          <p:cNvSpPr/>
          <p:nvPr/>
        </p:nvSpPr>
        <p:spPr>
          <a:xfrm>
            <a:off x="804672" y="2688336"/>
            <a:ext cx="3694176" cy="1051560"/>
          </a:xfrm>
          <a:prstGeom prst="rect">
            <a:avLst/>
          </a:prstGeom>
          <a:noFill/>
          <a:ln/>
        </p:spPr>
        <p:txBody>
          <a:bodyPr wrap="square" lIns="0" tIns="0" rIns="0" bIns="0" rtlCol="0" anchor="t"/>
          <a:lstStyle/>
          <a:p>
            <a:pPr indent="0" marL="0">
              <a:lnSpc>
                <a:spcPct val="125000"/>
              </a:lnSpc>
              <a:buNone/>
            </a:pPr>
            <a:r>
              <a:rPr lang="en-US" sz="1100" dirty="0">
                <a:solidFill>
                  <a:srgbClr val="C9CFDA"/>
                </a:solidFill>
                <a:latin typeface="Calibri" pitchFamily="34" charset="0"/>
                <a:ea typeface="Calibri" pitchFamily="34" charset="-122"/>
                <a:cs typeface="Calibri" pitchFamily="34" charset="-120"/>
              </a:rPr>
              <a:t>Thymeleaf + Bootstrap 5</a:t>
            </a:r>
            <a:endParaRPr lang="en-US" sz="1100" dirty="0"/>
          </a:p>
          <a:p>
            <a:pPr indent="0" marL="0">
              <a:lnSpc>
                <a:spcPct val="125000"/>
              </a:lnSpc>
              <a:buNone/>
            </a:pPr>
            <a:r>
              <a:rPr lang="en-US" sz="1100" dirty="0">
                <a:solidFill>
                  <a:srgbClr val="C9CFDA"/>
                </a:solidFill>
                <a:latin typeface="Calibri" pitchFamily="34" charset="0"/>
                <a:ea typeface="Calibri" pitchFamily="34" charset="-122"/>
                <a:cs typeface="Calibri" pitchFamily="34" charset="-120"/>
              </a:rPr>
              <a:t>Spring MVC  ·  Spring Security</a:t>
            </a:r>
            <a:endParaRPr lang="en-US" sz="1100" dirty="0"/>
          </a:p>
          <a:p>
            <a:pPr indent="0" marL="0">
              <a:lnSpc>
                <a:spcPct val="125000"/>
              </a:lnSpc>
              <a:buNone/>
            </a:pPr>
            <a:r>
              <a:rPr lang="en-US" sz="1100" dirty="0">
                <a:solidFill>
                  <a:srgbClr val="C9CFDA"/>
                </a:solidFill>
                <a:latin typeface="Calibri" pitchFamily="34" charset="0"/>
                <a:ea typeface="Calibri" pitchFamily="34" charset="-122"/>
                <a:cs typeface="Calibri" pitchFamily="34" charset="-120"/>
              </a:rPr>
              <a:t>Spring Data JPA</a:t>
            </a:r>
            <a:endParaRPr lang="en-US" sz="1100" dirty="0"/>
          </a:p>
        </p:txBody>
      </p:sp>
      <p:sp>
        <p:nvSpPr>
          <p:cNvPr id="7" name="Shape 5"/>
          <p:cNvSpPr/>
          <p:nvPr/>
        </p:nvSpPr>
        <p:spPr>
          <a:xfrm>
            <a:off x="6949440" y="2194560"/>
            <a:ext cx="4572000" cy="1691640"/>
          </a:xfrm>
          <a:prstGeom prst="roundRect">
            <a:avLst>
              <a:gd name="adj" fmla="val 3243"/>
            </a:avLst>
          </a:prstGeom>
          <a:solidFill>
            <a:srgbClr val="0E1420"/>
          </a:solidFill>
          <a:ln w="15875">
            <a:solidFill>
              <a:srgbClr val="0E1420"/>
            </a:solidFill>
            <a:prstDash val="solid"/>
          </a:ln>
        </p:spPr>
      </p:sp>
      <p:sp>
        <p:nvSpPr>
          <p:cNvPr id="8" name="Text 6"/>
          <p:cNvSpPr/>
          <p:nvPr/>
        </p:nvSpPr>
        <p:spPr>
          <a:xfrm>
            <a:off x="7114032" y="2340864"/>
            <a:ext cx="4242816" cy="301752"/>
          </a:xfrm>
          <a:prstGeom prst="rect">
            <a:avLst/>
          </a:prstGeom>
          <a:noFill/>
          <a:ln/>
        </p:spPr>
        <p:txBody>
          <a:bodyPr wrap="square" lIns="0" tIns="0" rIns="0" bIns="0" rtlCol="0" anchor="t"/>
          <a:lstStyle/>
          <a:p>
            <a:pPr indent="0" marL="0">
              <a:buNone/>
            </a:pPr>
            <a:r>
              <a:rPr lang="en-US" sz="1350" b="1" dirty="0">
                <a:solidFill>
                  <a:srgbClr val="FFFFFF"/>
                </a:solidFill>
                <a:latin typeface="Arial" pitchFamily="34" charset="0"/>
                <a:ea typeface="Arial" pitchFamily="34" charset="-122"/>
                <a:cs typeface="Arial" pitchFamily="34" charset="-120"/>
              </a:rPr>
              <a:t>Nutrition Service   :8081</a:t>
            </a:r>
            <a:endParaRPr lang="en-US" sz="1350" dirty="0"/>
          </a:p>
        </p:txBody>
      </p:sp>
      <p:sp>
        <p:nvSpPr>
          <p:cNvPr id="9" name="Text 7"/>
          <p:cNvSpPr/>
          <p:nvPr/>
        </p:nvSpPr>
        <p:spPr>
          <a:xfrm>
            <a:off x="7114032" y="2688336"/>
            <a:ext cx="4242816" cy="1051560"/>
          </a:xfrm>
          <a:prstGeom prst="rect">
            <a:avLst/>
          </a:prstGeom>
          <a:noFill/>
          <a:ln/>
        </p:spPr>
        <p:txBody>
          <a:bodyPr wrap="square" lIns="0" tIns="0" rIns="0" bIns="0" rtlCol="0" anchor="t"/>
          <a:lstStyle/>
          <a:p>
            <a:pPr indent="0" marL="0">
              <a:lnSpc>
                <a:spcPct val="125000"/>
              </a:lnSpc>
              <a:buNone/>
            </a:pPr>
            <a:r>
              <a:rPr lang="en-US" sz="1100" dirty="0">
                <a:solidFill>
                  <a:srgbClr val="C9CFDA"/>
                </a:solidFill>
                <a:latin typeface="Calibri" pitchFamily="34" charset="0"/>
                <a:ea typeface="Calibri" pitchFamily="34" charset="-122"/>
                <a:cs typeface="Calibri" pitchFamily="34" charset="-120"/>
              </a:rPr>
              <a:t>REST controller  ·  HTTP Basic</a:t>
            </a:r>
            <a:endParaRPr lang="en-US" sz="1100" dirty="0"/>
          </a:p>
          <a:p>
            <a:pPr indent="0" marL="0">
              <a:lnSpc>
                <a:spcPct val="125000"/>
              </a:lnSpc>
              <a:buNone/>
            </a:pPr>
            <a:r>
              <a:rPr lang="en-US" sz="1100" dirty="0">
                <a:solidFill>
                  <a:srgbClr val="C9CFDA"/>
                </a:solidFill>
                <a:latin typeface="Calibri" pitchFamily="34" charset="0"/>
                <a:ea typeface="Calibri" pitchFamily="34" charset="-122"/>
                <a:cs typeface="Calibri" pitchFamily="34" charset="-120"/>
              </a:rPr>
              <a:t>MacroCalculator</a:t>
            </a:r>
            <a:endParaRPr lang="en-US" sz="1100" dirty="0"/>
          </a:p>
          <a:p>
            <a:pPr indent="0" marL="0">
              <a:lnSpc>
                <a:spcPct val="125000"/>
              </a:lnSpc>
              <a:buNone/>
            </a:pPr>
            <a:r>
              <a:rPr lang="en-US" sz="1100" dirty="0">
                <a:solidFill>
                  <a:srgbClr val="C9CFDA"/>
                </a:solidFill>
                <a:latin typeface="Calibri" pitchFamily="34" charset="0"/>
                <a:ea typeface="Calibri" pitchFamily="34" charset="-122"/>
                <a:cs typeface="Calibri" pitchFamily="34" charset="-120"/>
              </a:rPr>
              <a:t>Spring Data JPA</a:t>
            </a:r>
            <a:endParaRPr lang="en-US" sz="1100" dirty="0"/>
          </a:p>
        </p:txBody>
      </p:sp>
      <p:sp>
        <p:nvSpPr>
          <p:cNvPr id="10" name="Shape 8"/>
          <p:cNvSpPr/>
          <p:nvPr/>
        </p:nvSpPr>
        <p:spPr>
          <a:xfrm>
            <a:off x="640080" y="4434840"/>
            <a:ext cx="4023360" cy="1417320"/>
          </a:xfrm>
          <a:prstGeom prst="roundRect">
            <a:avLst>
              <a:gd name="adj" fmla="val 3871"/>
            </a:avLst>
          </a:prstGeom>
          <a:solidFill>
            <a:srgbClr val="F6F7FB"/>
          </a:solidFill>
          <a:ln w="15875">
            <a:solidFill>
              <a:srgbClr val="E4E7EF"/>
            </a:solidFill>
            <a:prstDash val="solid"/>
          </a:ln>
        </p:spPr>
      </p:sp>
      <p:sp>
        <p:nvSpPr>
          <p:cNvPr id="11" name="Text 9"/>
          <p:cNvSpPr/>
          <p:nvPr/>
        </p:nvSpPr>
        <p:spPr>
          <a:xfrm>
            <a:off x="804672" y="4581144"/>
            <a:ext cx="3694176" cy="301752"/>
          </a:xfrm>
          <a:prstGeom prst="rect">
            <a:avLst/>
          </a:prstGeom>
          <a:noFill/>
          <a:ln/>
        </p:spPr>
        <p:txBody>
          <a:bodyPr wrap="square" lIns="0" tIns="0" rIns="0" bIns="0" rtlCol="0" anchor="t"/>
          <a:lstStyle/>
          <a:p>
            <a:pPr indent="0" marL="0">
              <a:buNone/>
            </a:pPr>
            <a:r>
              <a:rPr lang="en-US" sz="1350" b="1" dirty="0">
                <a:solidFill>
                  <a:srgbClr val="0E1420"/>
                </a:solidFill>
                <a:latin typeface="Arial" pitchFamily="34" charset="0"/>
                <a:ea typeface="Arial" pitchFamily="34" charset="-122"/>
                <a:cs typeface="Arial" pitchFamily="34" charset="-120"/>
              </a:rPr>
              <a:t>H2  (dev)   ·   MySQL  (prod)</a:t>
            </a:r>
            <a:endParaRPr lang="en-US" sz="1350" dirty="0"/>
          </a:p>
        </p:txBody>
      </p:sp>
      <p:sp>
        <p:nvSpPr>
          <p:cNvPr id="12" name="Text 10"/>
          <p:cNvSpPr/>
          <p:nvPr/>
        </p:nvSpPr>
        <p:spPr>
          <a:xfrm>
            <a:off x="804672" y="4928616"/>
            <a:ext cx="3694176" cy="777240"/>
          </a:xfrm>
          <a:prstGeom prst="rect">
            <a:avLst/>
          </a:prstGeom>
          <a:noFill/>
          <a:ln/>
        </p:spPr>
        <p:txBody>
          <a:bodyPr wrap="square" lIns="0" tIns="0" rIns="0" bIns="0" rtlCol="0" anchor="t"/>
          <a:lstStyle/>
          <a:p>
            <a:pPr indent="0" marL="0">
              <a:lnSpc>
                <a:spcPct val="125000"/>
              </a:lnSpc>
              <a:buNone/>
            </a:pPr>
            <a:r>
              <a:rPr lang="en-US" sz="1100" dirty="0">
                <a:solidFill>
                  <a:srgbClr val="64748B"/>
                </a:solidFill>
                <a:latin typeface="Calibri" pitchFamily="34" charset="0"/>
                <a:ea typeface="Calibri" pitchFamily="34" charset="-122"/>
                <a:cs typeface="Calibri" pitchFamily="34" charset="-120"/>
              </a:rPr>
              <a:t>users · user_roles · workouts</a:t>
            </a:r>
            <a:endParaRPr lang="en-US" sz="1100" dirty="0"/>
          </a:p>
          <a:p>
            <a:pPr indent="0" marL="0">
              <a:lnSpc>
                <a:spcPct val="125000"/>
              </a:lnSpc>
              <a:buNone/>
            </a:pPr>
            <a:r>
              <a:rPr lang="en-US" sz="1100" dirty="0">
                <a:solidFill>
                  <a:srgbClr val="64748B"/>
                </a:solidFill>
                <a:latin typeface="Calibri" pitchFamily="34" charset="0"/>
                <a:ea typeface="Calibri" pitchFamily="34" charset="-122"/>
                <a:cs typeface="Calibri" pitchFamily="34" charset="-120"/>
              </a:rPr>
              <a:t>programs · program_members</a:t>
            </a:r>
            <a:endParaRPr lang="en-US" sz="1100" dirty="0"/>
          </a:p>
        </p:txBody>
      </p:sp>
      <p:sp>
        <p:nvSpPr>
          <p:cNvPr id="13" name="Shape 11"/>
          <p:cNvSpPr/>
          <p:nvPr/>
        </p:nvSpPr>
        <p:spPr>
          <a:xfrm>
            <a:off x="6949440" y="4434840"/>
            <a:ext cx="4572000" cy="1417320"/>
          </a:xfrm>
          <a:prstGeom prst="roundRect">
            <a:avLst>
              <a:gd name="adj" fmla="val 3871"/>
            </a:avLst>
          </a:prstGeom>
          <a:solidFill>
            <a:srgbClr val="F6F7FB"/>
          </a:solidFill>
          <a:ln w="15875">
            <a:solidFill>
              <a:srgbClr val="E4E7EF"/>
            </a:solidFill>
            <a:prstDash val="solid"/>
          </a:ln>
        </p:spPr>
      </p:sp>
      <p:sp>
        <p:nvSpPr>
          <p:cNvPr id="14" name="Text 12"/>
          <p:cNvSpPr/>
          <p:nvPr/>
        </p:nvSpPr>
        <p:spPr>
          <a:xfrm>
            <a:off x="7114032" y="4581144"/>
            <a:ext cx="4242816" cy="301752"/>
          </a:xfrm>
          <a:prstGeom prst="rect">
            <a:avLst/>
          </a:prstGeom>
          <a:noFill/>
          <a:ln/>
        </p:spPr>
        <p:txBody>
          <a:bodyPr wrap="square" lIns="0" tIns="0" rIns="0" bIns="0" rtlCol="0" anchor="t"/>
          <a:lstStyle/>
          <a:p>
            <a:pPr indent="0" marL="0">
              <a:buNone/>
            </a:pPr>
            <a:r>
              <a:rPr lang="en-US" sz="1350" b="1" dirty="0">
                <a:solidFill>
                  <a:srgbClr val="0E1420"/>
                </a:solidFill>
                <a:latin typeface="Arial" pitchFamily="34" charset="0"/>
                <a:ea typeface="Arial" pitchFamily="34" charset="-122"/>
                <a:cs typeface="Arial" pitchFamily="34" charset="-120"/>
              </a:rPr>
              <a:t>H2  (dev)   ·   PostgreSQL  (qa)</a:t>
            </a:r>
            <a:endParaRPr lang="en-US" sz="1350" dirty="0"/>
          </a:p>
        </p:txBody>
      </p:sp>
      <p:sp>
        <p:nvSpPr>
          <p:cNvPr id="15" name="Text 13"/>
          <p:cNvSpPr/>
          <p:nvPr/>
        </p:nvSpPr>
        <p:spPr>
          <a:xfrm>
            <a:off x="7114032" y="4928616"/>
            <a:ext cx="4242816" cy="777240"/>
          </a:xfrm>
          <a:prstGeom prst="rect">
            <a:avLst/>
          </a:prstGeom>
          <a:noFill/>
          <a:ln/>
        </p:spPr>
        <p:txBody>
          <a:bodyPr wrap="square" lIns="0" tIns="0" rIns="0" bIns="0" rtlCol="0" anchor="t"/>
          <a:lstStyle/>
          <a:p>
            <a:pPr indent="0" marL="0">
              <a:lnSpc>
                <a:spcPct val="125000"/>
              </a:lnSpc>
              <a:buNone/>
            </a:pPr>
            <a:r>
              <a:rPr lang="en-US" sz="1100" dirty="0">
                <a:solidFill>
                  <a:srgbClr val="64748B"/>
                </a:solidFill>
                <a:latin typeface="Calibri" pitchFamily="34" charset="0"/>
                <a:ea typeface="Calibri" pitchFamily="34" charset="-122"/>
                <a:cs typeface="Calibri" pitchFamily="34" charset="-120"/>
              </a:rPr>
              <a:t>meal_plans</a:t>
            </a:r>
            <a:endParaRPr lang="en-US" sz="1100" dirty="0"/>
          </a:p>
          <a:p>
            <a:pPr indent="0" marL="0">
              <a:lnSpc>
                <a:spcPct val="125000"/>
              </a:lnSpc>
              <a:buNone/>
            </a:pPr>
            <a:endParaRPr lang="en-US" sz="1100" dirty="0"/>
          </a:p>
          <a:p>
            <a:pPr indent="0" marL="0">
              <a:lnSpc>
                <a:spcPct val="125000"/>
              </a:lnSpc>
              <a:buNone/>
            </a:pPr>
            <a:r>
              <a:rPr lang="en-US" sz="1100" dirty="0">
                <a:solidFill>
                  <a:srgbClr val="64748B"/>
                </a:solidFill>
                <a:latin typeface="Calibri" pitchFamily="34" charset="0"/>
                <a:ea typeface="Calibri" pitchFamily="34" charset="-122"/>
                <a:cs typeface="Calibri" pitchFamily="34" charset="-120"/>
              </a:rPr>
              <a:t>No users table. At all.</a:t>
            </a:r>
            <a:endParaRPr lang="en-US" sz="1100" dirty="0"/>
          </a:p>
        </p:txBody>
      </p:sp>
      <p:sp>
        <p:nvSpPr>
          <p:cNvPr id="16" name="Shape 14"/>
          <p:cNvSpPr/>
          <p:nvPr/>
        </p:nvSpPr>
        <p:spPr>
          <a:xfrm>
            <a:off x="2651760" y="3886200"/>
            <a:ext cx="0" cy="548640"/>
          </a:xfrm>
          <a:prstGeom prst="line">
            <a:avLst/>
          </a:prstGeom>
          <a:noFill/>
          <a:ln w="22225">
            <a:solidFill>
              <a:srgbClr val="64748B"/>
            </a:solidFill>
            <a:prstDash val="solid"/>
            <a:tailEnd type="triangle"/>
          </a:ln>
        </p:spPr>
      </p:sp>
      <p:sp>
        <p:nvSpPr>
          <p:cNvPr id="17" name="Shape 15"/>
          <p:cNvSpPr/>
          <p:nvPr/>
        </p:nvSpPr>
        <p:spPr>
          <a:xfrm>
            <a:off x="9235440" y="3886200"/>
            <a:ext cx="0" cy="548640"/>
          </a:xfrm>
          <a:prstGeom prst="line">
            <a:avLst/>
          </a:prstGeom>
          <a:noFill/>
          <a:ln w="22225">
            <a:solidFill>
              <a:srgbClr val="64748B"/>
            </a:solidFill>
            <a:prstDash val="solid"/>
            <a:tailEnd type="triangle"/>
          </a:ln>
        </p:spPr>
      </p:sp>
      <p:sp>
        <p:nvSpPr>
          <p:cNvPr id="18" name="Shape 16"/>
          <p:cNvSpPr/>
          <p:nvPr/>
        </p:nvSpPr>
        <p:spPr>
          <a:xfrm>
            <a:off x="4663440" y="2788920"/>
            <a:ext cx="2286000" cy="0"/>
          </a:xfrm>
          <a:prstGeom prst="line">
            <a:avLst/>
          </a:prstGeom>
          <a:noFill/>
          <a:ln w="31750">
            <a:solidFill>
              <a:srgbClr val="FF5A3C"/>
            </a:solidFill>
            <a:prstDash val="solid"/>
            <a:tailEnd type="triangle"/>
          </a:ln>
        </p:spPr>
      </p:sp>
      <p:sp>
        <p:nvSpPr>
          <p:cNvPr id="19" name="Text 17"/>
          <p:cNvSpPr/>
          <p:nvPr/>
        </p:nvSpPr>
        <p:spPr>
          <a:xfrm>
            <a:off x="4617720" y="2880360"/>
            <a:ext cx="2377440" cy="548640"/>
          </a:xfrm>
          <a:prstGeom prst="rect">
            <a:avLst/>
          </a:prstGeom>
          <a:noFill/>
          <a:ln/>
        </p:spPr>
        <p:txBody>
          <a:bodyPr wrap="square" lIns="0" tIns="0" rIns="0" bIns="0" rtlCol="0" anchor="ctr"/>
          <a:lstStyle/>
          <a:p>
            <a:pPr algn="ctr" indent="0" marL="0">
              <a:lnSpc>
                <a:spcPct val="115000"/>
              </a:lnSpc>
              <a:buNone/>
            </a:pPr>
            <a:r>
              <a:rPr lang="en-US" sz="1050" b="1" dirty="0">
                <a:solidFill>
                  <a:srgbClr val="FF5A3C"/>
                </a:solidFill>
                <a:latin typeface="Calibri" pitchFamily="34" charset="0"/>
                <a:ea typeface="Calibri" pitchFamily="34" charset="-122"/>
                <a:cs typeface="Calibri" pitchFamily="34" charset="-120"/>
              </a:rPr>
              <a:t>RestTemplate</a:t>
            </a:r>
            <a:endParaRPr lang="en-US" sz="1050" dirty="0"/>
          </a:p>
          <a:p>
            <a:pPr algn="ctr" indent="0" marL="0">
              <a:lnSpc>
                <a:spcPct val="115000"/>
              </a:lnSpc>
              <a:buNone/>
            </a:pPr>
            <a:r>
              <a:rPr lang="en-US" sz="1050" b="1" dirty="0">
                <a:solidFill>
                  <a:srgbClr val="FF5A3C"/>
                </a:solidFill>
                <a:latin typeface="Calibri" pitchFamily="34" charset="0"/>
                <a:ea typeface="Calibri" pitchFamily="34" charset="-122"/>
                <a:cs typeface="Calibri" pitchFamily="34" charset="-120"/>
              </a:rPr>
              <a:t>HTTP Basic  ·  JSON</a:t>
            </a:r>
            <a:endParaRPr lang="en-US" sz="1050" dirty="0"/>
          </a:p>
        </p:txBody>
      </p:sp>
      <p:sp>
        <p:nvSpPr>
          <p:cNvPr id="20" name="Text 18"/>
          <p:cNvSpPr/>
          <p:nvPr/>
        </p:nvSpPr>
        <p:spPr>
          <a:xfrm>
            <a:off x="1874520" y="4023360"/>
            <a:ext cx="731520" cy="274320"/>
          </a:xfrm>
          <a:prstGeom prst="rect">
            <a:avLst/>
          </a:prstGeom>
          <a:noFill/>
          <a:ln/>
        </p:spPr>
        <p:txBody>
          <a:bodyPr wrap="square" lIns="0" tIns="0" rIns="0" bIns="0" rtlCol="0" anchor="ctr"/>
          <a:lstStyle/>
          <a:p>
            <a:pPr algn="r" indent="0" marL="0">
              <a:buNone/>
            </a:pPr>
            <a:r>
              <a:rPr lang="en-US" sz="1050" dirty="0">
                <a:solidFill>
                  <a:srgbClr val="64748B"/>
                </a:solidFill>
                <a:latin typeface="Calibri" pitchFamily="34" charset="0"/>
                <a:ea typeface="Calibri" pitchFamily="34" charset="-122"/>
                <a:cs typeface="Calibri" pitchFamily="34" charset="-120"/>
              </a:rPr>
              <a:t>JPA</a:t>
            </a:r>
            <a:endParaRPr lang="en-US" sz="1050" dirty="0"/>
          </a:p>
        </p:txBody>
      </p:sp>
      <p:sp>
        <p:nvSpPr>
          <p:cNvPr id="21" name="Text 19"/>
          <p:cNvSpPr/>
          <p:nvPr/>
        </p:nvSpPr>
        <p:spPr>
          <a:xfrm>
            <a:off x="8458200" y="4023360"/>
            <a:ext cx="731520" cy="274320"/>
          </a:xfrm>
          <a:prstGeom prst="rect">
            <a:avLst/>
          </a:prstGeom>
          <a:noFill/>
          <a:ln/>
        </p:spPr>
        <p:txBody>
          <a:bodyPr wrap="square" lIns="0" tIns="0" rIns="0" bIns="0" rtlCol="0" anchor="ctr"/>
          <a:lstStyle/>
          <a:p>
            <a:pPr algn="r" indent="0" marL="0">
              <a:buNone/>
            </a:pPr>
            <a:r>
              <a:rPr lang="en-US" sz="1050" dirty="0">
                <a:solidFill>
                  <a:srgbClr val="64748B"/>
                </a:solidFill>
                <a:latin typeface="Calibri" pitchFamily="34" charset="0"/>
                <a:ea typeface="Calibri" pitchFamily="34" charset="-122"/>
                <a:cs typeface="Calibri" pitchFamily="34" charset="-120"/>
              </a:rPr>
              <a:t>JPA</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7315200" cy="274320"/>
          </a:xfrm>
          <a:prstGeom prst="rect">
            <a:avLst/>
          </a:prstGeom>
          <a:noFill/>
          <a:ln/>
        </p:spPr>
        <p:txBody>
          <a:bodyPr wrap="square" lIns="0" tIns="0" rIns="0" bIns="0" rtlCol="0" anchor="ctr"/>
          <a:lstStyle/>
          <a:p>
            <a:pPr indent="0" marL="0">
              <a:buNone/>
            </a:pPr>
            <a:r>
              <a:rPr lang="en-US" sz="1100" b="1" spc="200" kern="0" dirty="0">
                <a:solidFill>
                  <a:srgbClr val="FF5A3C"/>
                </a:solidFill>
                <a:latin typeface="Arial" pitchFamily="34" charset="0"/>
                <a:ea typeface="Arial" pitchFamily="34" charset="-122"/>
                <a:cs typeface="Arial" pitchFamily="34" charset="-120"/>
              </a:rPr>
              <a:t>DELIVERABLE 1 · FRONT-END AND DATABASE</a:t>
            </a:r>
            <a:endParaRPr lang="en-US" sz="1100" dirty="0"/>
          </a:p>
        </p:txBody>
      </p:sp>
      <p:sp>
        <p:nvSpPr>
          <p:cNvPr id="3" name="Text 1"/>
          <p:cNvSpPr/>
          <p:nvPr/>
        </p:nvSpPr>
        <p:spPr>
          <a:xfrm>
            <a:off x="640080" y="777240"/>
            <a:ext cx="10881360" cy="1234440"/>
          </a:xfrm>
          <a:prstGeom prst="rect">
            <a:avLst/>
          </a:prstGeom>
          <a:noFill/>
          <a:ln/>
        </p:spPr>
        <p:txBody>
          <a:bodyPr wrap="square" lIns="0" tIns="0" rIns="0" bIns="0" rtlCol="0" anchor="t"/>
          <a:lstStyle/>
          <a:p>
            <a:pPr indent="0" marL="0">
              <a:buNone/>
            </a:pPr>
            <a:r>
              <a:rPr lang="en-US" sz="3400" b="1" dirty="0">
                <a:solidFill>
                  <a:srgbClr val="0E1420"/>
                </a:solidFill>
                <a:latin typeface="Arial" pitchFamily="34" charset="0"/>
                <a:ea typeface="Arial" pitchFamily="34" charset="-122"/>
                <a:cs typeface="Arial" pitchFamily="34" charset="-120"/>
              </a:rPr>
              <a:t>What we built first, and kept</a:t>
            </a:r>
            <a:endParaRPr lang="en-US" sz="3400" dirty="0"/>
          </a:p>
        </p:txBody>
      </p:sp>
      <p:sp>
        <p:nvSpPr>
          <p:cNvPr id="4" name="Shape 2"/>
          <p:cNvSpPr/>
          <p:nvPr/>
        </p:nvSpPr>
        <p:spPr>
          <a:xfrm>
            <a:off x="640080" y="2212848"/>
            <a:ext cx="329184" cy="329184"/>
          </a:xfrm>
          <a:prstGeom prst="ellipse">
            <a:avLst/>
          </a:prstGeom>
          <a:solidFill>
            <a:srgbClr val="FF5A3C"/>
          </a:solidFill>
          <a:ln/>
        </p:spPr>
      </p:sp>
      <p:sp>
        <p:nvSpPr>
          <p:cNvPr id="5" name="Text 3"/>
          <p:cNvSpPr/>
          <p:nvPr/>
        </p:nvSpPr>
        <p:spPr>
          <a:xfrm>
            <a:off x="640080" y="2240280"/>
            <a:ext cx="329184"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a:t>
            </a:r>
            <a:endParaRPr lang="en-US" sz="1300" dirty="0"/>
          </a:p>
        </p:txBody>
      </p:sp>
      <p:sp>
        <p:nvSpPr>
          <p:cNvPr id="6" name="Text 4"/>
          <p:cNvSpPr/>
          <p:nvPr/>
        </p:nvSpPr>
        <p:spPr>
          <a:xfrm>
            <a:off x="1152144" y="2194560"/>
            <a:ext cx="4791456" cy="301752"/>
          </a:xfrm>
          <a:prstGeom prst="rect">
            <a:avLst/>
          </a:prstGeom>
          <a:noFill/>
          <a:ln/>
        </p:spPr>
        <p:txBody>
          <a:bodyPr wrap="square" lIns="0" tIns="0" rIns="0" bIns="0" rtlCol="0" anchor="t"/>
          <a:lstStyle/>
          <a:p>
            <a:pPr indent="0" marL="0">
              <a:buNone/>
            </a:pPr>
            <a:r>
              <a:rPr lang="en-US" sz="1500" b="1" dirty="0">
                <a:solidFill>
                  <a:srgbClr val="0E1420"/>
                </a:solidFill>
                <a:latin typeface="Arial" pitchFamily="34" charset="0"/>
                <a:ea typeface="Arial" pitchFamily="34" charset="-122"/>
                <a:cs typeface="Arial" pitchFamily="34" charset="-120"/>
              </a:rPr>
              <a:t>Pages</a:t>
            </a:r>
            <a:endParaRPr lang="en-US" sz="1500" dirty="0"/>
          </a:p>
        </p:txBody>
      </p:sp>
      <p:sp>
        <p:nvSpPr>
          <p:cNvPr id="7" name="Text 5"/>
          <p:cNvSpPr/>
          <p:nvPr/>
        </p:nvSpPr>
        <p:spPr>
          <a:xfrm>
            <a:off x="1152144" y="2523744"/>
            <a:ext cx="4791456" cy="868680"/>
          </a:xfrm>
          <a:prstGeom prst="rect">
            <a:avLst/>
          </a:prstGeom>
          <a:noFill/>
          <a:ln/>
        </p:spPr>
        <p:txBody>
          <a:bodyPr wrap="square" lIns="0" tIns="0" rIns="0" bIns="0" rtlCol="0" anchor="t"/>
          <a:lstStyle/>
          <a:p>
            <a:pPr indent="0" marL="0">
              <a:lnSpc>
                <a:spcPct val="120000"/>
              </a:lnSpc>
              <a:buNone/>
            </a:pPr>
            <a:r>
              <a:rPr lang="en-US" sz="1250" dirty="0">
                <a:solidFill>
                  <a:srgbClr val="64748B"/>
                </a:solidFill>
                <a:latin typeface="Calibri" pitchFamily="34" charset="0"/>
                <a:ea typeface="Calibri" pitchFamily="34" charset="-122"/>
                <a:cs typeface="Calibri" pitchFamily="34" charset="-120"/>
              </a:rPr>
              <a:t>A home page plus About and a Training Guide, in semantic HTML with Thymeleaf.</a:t>
            </a:r>
            <a:endParaRPr lang="en-US" sz="1250" dirty="0"/>
          </a:p>
        </p:txBody>
      </p:sp>
      <p:sp>
        <p:nvSpPr>
          <p:cNvPr id="8" name="Shape 6"/>
          <p:cNvSpPr/>
          <p:nvPr/>
        </p:nvSpPr>
        <p:spPr>
          <a:xfrm>
            <a:off x="6263640" y="2212848"/>
            <a:ext cx="329184" cy="329184"/>
          </a:xfrm>
          <a:prstGeom prst="ellipse">
            <a:avLst/>
          </a:prstGeom>
          <a:solidFill>
            <a:srgbClr val="FF5A3C"/>
          </a:solidFill>
          <a:ln/>
        </p:spPr>
      </p:sp>
      <p:sp>
        <p:nvSpPr>
          <p:cNvPr id="9" name="Text 7"/>
          <p:cNvSpPr/>
          <p:nvPr/>
        </p:nvSpPr>
        <p:spPr>
          <a:xfrm>
            <a:off x="6263640" y="2240280"/>
            <a:ext cx="329184"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a:t>
            </a:r>
            <a:endParaRPr lang="en-US" sz="1300" dirty="0"/>
          </a:p>
        </p:txBody>
      </p:sp>
      <p:sp>
        <p:nvSpPr>
          <p:cNvPr id="10" name="Text 8"/>
          <p:cNvSpPr/>
          <p:nvPr/>
        </p:nvSpPr>
        <p:spPr>
          <a:xfrm>
            <a:off x="6775704" y="2194560"/>
            <a:ext cx="4791456" cy="301752"/>
          </a:xfrm>
          <a:prstGeom prst="rect">
            <a:avLst/>
          </a:prstGeom>
          <a:noFill/>
          <a:ln/>
        </p:spPr>
        <p:txBody>
          <a:bodyPr wrap="square" lIns="0" tIns="0" rIns="0" bIns="0" rtlCol="0" anchor="t"/>
          <a:lstStyle/>
          <a:p>
            <a:pPr indent="0" marL="0">
              <a:buNone/>
            </a:pPr>
            <a:r>
              <a:rPr lang="en-US" sz="1500" b="1" dirty="0">
                <a:solidFill>
                  <a:srgbClr val="0E1420"/>
                </a:solidFill>
                <a:latin typeface="Arial" pitchFamily="34" charset="0"/>
                <a:ea typeface="Arial" pitchFamily="34" charset="-122"/>
                <a:cs typeface="Arial" pitchFamily="34" charset="-120"/>
              </a:rPr>
              <a:t>A form that validates</a:t>
            </a:r>
            <a:endParaRPr lang="en-US" sz="1500" dirty="0"/>
          </a:p>
        </p:txBody>
      </p:sp>
      <p:sp>
        <p:nvSpPr>
          <p:cNvPr id="11" name="Text 9"/>
          <p:cNvSpPr/>
          <p:nvPr/>
        </p:nvSpPr>
        <p:spPr>
          <a:xfrm>
            <a:off x="6775704" y="2523744"/>
            <a:ext cx="4791456" cy="868680"/>
          </a:xfrm>
          <a:prstGeom prst="rect">
            <a:avLst/>
          </a:prstGeom>
          <a:noFill/>
          <a:ln/>
        </p:spPr>
        <p:txBody>
          <a:bodyPr wrap="square" lIns="0" tIns="0" rIns="0" bIns="0" rtlCol="0" anchor="t"/>
          <a:lstStyle/>
          <a:p>
            <a:pPr indent="0" marL="0">
              <a:lnSpc>
                <a:spcPct val="120000"/>
              </a:lnSpc>
              <a:buNone/>
            </a:pPr>
            <a:r>
              <a:rPr lang="en-US" sz="1250" dirty="0">
                <a:solidFill>
                  <a:srgbClr val="64748B"/>
                </a:solidFill>
                <a:latin typeface="Calibri" pitchFamily="34" charset="0"/>
                <a:ea typeface="Calibri" pitchFamily="34" charset="-122"/>
                <a:cs typeface="Calibri" pitchFamily="34" charset="-120"/>
              </a:rPr>
              <a:t>Server-side rules reject bad input in plain language: required fields, 1-300 minutes, no future dates, categorical fields from a fixed set.</a:t>
            </a:r>
            <a:endParaRPr lang="en-US" sz="1250" dirty="0"/>
          </a:p>
        </p:txBody>
      </p:sp>
      <p:sp>
        <p:nvSpPr>
          <p:cNvPr id="12" name="Shape 10"/>
          <p:cNvSpPr/>
          <p:nvPr/>
        </p:nvSpPr>
        <p:spPr>
          <a:xfrm>
            <a:off x="640080" y="3584448"/>
            <a:ext cx="329184" cy="329184"/>
          </a:xfrm>
          <a:prstGeom prst="ellipse">
            <a:avLst/>
          </a:prstGeom>
          <a:solidFill>
            <a:srgbClr val="FF5A3C"/>
          </a:solidFill>
          <a:ln/>
        </p:spPr>
      </p:sp>
      <p:sp>
        <p:nvSpPr>
          <p:cNvPr id="13" name="Text 11"/>
          <p:cNvSpPr/>
          <p:nvPr/>
        </p:nvSpPr>
        <p:spPr>
          <a:xfrm>
            <a:off x="640080" y="3611880"/>
            <a:ext cx="329184"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a:t>
            </a:r>
            <a:endParaRPr lang="en-US" sz="1300" dirty="0"/>
          </a:p>
        </p:txBody>
      </p:sp>
      <p:sp>
        <p:nvSpPr>
          <p:cNvPr id="14" name="Text 12"/>
          <p:cNvSpPr/>
          <p:nvPr/>
        </p:nvSpPr>
        <p:spPr>
          <a:xfrm>
            <a:off x="1152144" y="3566160"/>
            <a:ext cx="4791456" cy="301752"/>
          </a:xfrm>
          <a:prstGeom prst="rect">
            <a:avLst/>
          </a:prstGeom>
          <a:noFill/>
          <a:ln/>
        </p:spPr>
        <p:txBody>
          <a:bodyPr wrap="square" lIns="0" tIns="0" rIns="0" bIns="0" rtlCol="0" anchor="t"/>
          <a:lstStyle/>
          <a:p>
            <a:pPr indent="0" marL="0">
              <a:buNone/>
            </a:pPr>
            <a:r>
              <a:rPr lang="en-US" sz="1500" b="1" dirty="0">
                <a:solidFill>
                  <a:srgbClr val="0E1420"/>
                </a:solidFill>
                <a:latin typeface="Arial" pitchFamily="34" charset="0"/>
                <a:ea typeface="Arial" pitchFamily="34" charset="-122"/>
                <a:cs typeface="Arial" pitchFamily="34" charset="-120"/>
              </a:rPr>
              <a:t>Real persistence</a:t>
            </a:r>
            <a:endParaRPr lang="en-US" sz="1500" dirty="0"/>
          </a:p>
        </p:txBody>
      </p:sp>
      <p:sp>
        <p:nvSpPr>
          <p:cNvPr id="15" name="Text 13"/>
          <p:cNvSpPr/>
          <p:nvPr/>
        </p:nvSpPr>
        <p:spPr>
          <a:xfrm>
            <a:off x="1152144" y="3895344"/>
            <a:ext cx="4791456" cy="868680"/>
          </a:xfrm>
          <a:prstGeom prst="rect">
            <a:avLst/>
          </a:prstGeom>
          <a:noFill/>
          <a:ln/>
        </p:spPr>
        <p:txBody>
          <a:bodyPr wrap="square" lIns="0" tIns="0" rIns="0" bIns="0" rtlCol="0" anchor="t"/>
          <a:lstStyle/>
          <a:p>
            <a:pPr indent="0" marL="0">
              <a:lnSpc>
                <a:spcPct val="120000"/>
              </a:lnSpc>
              <a:buNone/>
            </a:pPr>
            <a:r>
              <a:rPr lang="en-US" sz="1250" dirty="0">
                <a:solidFill>
                  <a:srgbClr val="64748B"/>
                </a:solidFill>
                <a:latin typeface="Calibri" pitchFamily="34" charset="0"/>
                <a:ea typeface="Calibri" pitchFamily="34" charset="-122"/>
                <a:cs typeface="Calibri" pitchFamily="34" charset="-120"/>
              </a:rPr>
              <a:t>Spring Data JPA, generated IDs, created and updated timestamps. Save, redirect, and the record is there.</a:t>
            </a:r>
            <a:endParaRPr lang="en-US" sz="1250" dirty="0"/>
          </a:p>
        </p:txBody>
      </p:sp>
      <p:sp>
        <p:nvSpPr>
          <p:cNvPr id="16" name="Shape 14"/>
          <p:cNvSpPr/>
          <p:nvPr/>
        </p:nvSpPr>
        <p:spPr>
          <a:xfrm>
            <a:off x="6263640" y="3584448"/>
            <a:ext cx="329184" cy="329184"/>
          </a:xfrm>
          <a:prstGeom prst="ellipse">
            <a:avLst/>
          </a:prstGeom>
          <a:solidFill>
            <a:srgbClr val="FF5A3C"/>
          </a:solidFill>
          <a:ln/>
        </p:spPr>
      </p:sp>
      <p:sp>
        <p:nvSpPr>
          <p:cNvPr id="17" name="Text 15"/>
          <p:cNvSpPr/>
          <p:nvPr/>
        </p:nvSpPr>
        <p:spPr>
          <a:xfrm>
            <a:off x="6263640" y="3611880"/>
            <a:ext cx="329184"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a:t>
            </a:r>
            <a:endParaRPr lang="en-US" sz="1300" dirty="0"/>
          </a:p>
        </p:txBody>
      </p:sp>
      <p:sp>
        <p:nvSpPr>
          <p:cNvPr id="18" name="Text 16"/>
          <p:cNvSpPr/>
          <p:nvPr/>
        </p:nvSpPr>
        <p:spPr>
          <a:xfrm>
            <a:off x="6775704" y="3566160"/>
            <a:ext cx="4791456" cy="301752"/>
          </a:xfrm>
          <a:prstGeom prst="rect">
            <a:avLst/>
          </a:prstGeom>
          <a:noFill/>
          <a:ln/>
        </p:spPr>
        <p:txBody>
          <a:bodyPr wrap="square" lIns="0" tIns="0" rIns="0" bIns="0" rtlCol="0" anchor="t"/>
          <a:lstStyle/>
          <a:p>
            <a:pPr indent="0" marL="0">
              <a:buNone/>
            </a:pPr>
            <a:r>
              <a:rPr lang="en-US" sz="1500" b="1" dirty="0">
                <a:solidFill>
                  <a:srgbClr val="0E1420"/>
                </a:solidFill>
                <a:latin typeface="Arial" pitchFamily="34" charset="0"/>
                <a:ea typeface="Arial" pitchFamily="34" charset="-122"/>
                <a:cs typeface="Arial" pitchFamily="34" charset="-120"/>
              </a:rPr>
              <a:t>Filter, sort, page</a:t>
            </a:r>
            <a:endParaRPr lang="en-US" sz="1500" dirty="0"/>
          </a:p>
        </p:txBody>
      </p:sp>
      <p:sp>
        <p:nvSpPr>
          <p:cNvPr id="19" name="Text 17"/>
          <p:cNvSpPr/>
          <p:nvPr/>
        </p:nvSpPr>
        <p:spPr>
          <a:xfrm>
            <a:off x="6775704" y="3895344"/>
            <a:ext cx="4791456" cy="868680"/>
          </a:xfrm>
          <a:prstGeom prst="rect">
            <a:avLst/>
          </a:prstGeom>
          <a:noFill/>
          <a:ln/>
        </p:spPr>
        <p:txBody>
          <a:bodyPr wrap="square" lIns="0" tIns="0" rIns="0" bIns="0" rtlCol="0" anchor="t"/>
          <a:lstStyle/>
          <a:p>
            <a:pPr indent="0" marL="0">
              <a:lnSpc>
                <a:spcPct val="120000"/>
              </a:lnSpc>
              <a:buNone/>
            </a:pPr>
            <a:r>
              <a:rPr lang="en-US" sz="1250" dirty="0">
                <a:solidFill>
                  <a:srgbClr val="64748B"/>
                </a:solidFill>
                <a:latin typeface="Calibri" pitchFamily="34" charset="0"/>
                <a:ea typeface="Calibri" pitchFamily="34" charset="-122"/>
                <a:cs typeface="Calibri" pitchFamily="34" charset="-120"/>
              </a:rPr>
              <a:t>Five filter dimensions and five sortable columns, executed as a JPA Specification with Pageable - never a list trimmed in memory.</a:t>
            </a:r>
            <a:endParaRPr lang="en-US" sz="1250" dirty="0"/>
          </a:p>
        </p:txBody>
      </p:sp>
      <p:sp>
        <p:nvSpPr>
          <p:cNvPr id="20" name="Shape 18"/>
          <p:cNvSpPr/>
          <p:nvPr/>
        </p:nvSpPr>
        <p:spPr>
          <a:xfrm>
            <a:off x="640080" y="4956048"/>
            <a:ext cx="329184" cy="329184"/>
          </a:xfrm>
          <a:prstGeom prst="ellipse">
            <a:avLst/>
          </a:prstGeom>
          <a:solidFill>
            <a:srgbClr val="FF5A3C"/>
          </a:solidFill>
          <a:ln/>
        </p:spPr>
      </p:sp>
      <p:sp>
        <p:nvSpPr>
          <p:cNvPr id="21" name="Text 19"/>
          <p:cNvSpPr/>
          <p:nvPr/>
        </p:nvSpPr>
        <p:spPr>
          <a:xfrm>
            <a:off x="640080" y="4983480"/>
            <a:ext cx="329184"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a:t>
            </a:r>
            <a:endParaRPr lang="en-US" sz="1300" dirty="0"/>
          </a:p>
        </p:txBody>
      </p:sp>
      <p:sp>
        <p:nvSpPr>
          <p:cNvPr id="22" name="Text 20"/>
          <p:cNvSpPr/>
          <p:nvPr/>
        </p:nvSpPr>
        <p:spPr>
          <a:xfrm>
            <a:off x="1152144" y="4937760"/>
            <a:ext cx="4791456" cy="301752"/>
          </a:xfrm>
          <a:prstGeom prst="rect">
            <a:avLst/>
          </a:prstGeom>
          <a:noFill/>
          <a:ln/>
        </p:spPr>
        <p:txBody>
          <a:bodyPr wrap="square" lIns="0" tIns="0" rIns="0" bIns="0" rtlCol="0" anchor="t"/>
          <a:lstStyle/>
          <a:p>
            <a:pPr indent="0" marL="0">
              <a:buNone/>
            </a:pPr>
            <a:r>
              <a:rPr lang="en-US" sz="1500" b="1" dirty="0">
                <a:solidFill>
                  <a:srgbClr val="0E1420"/>
                </a:solidFill>
                <a:latin typeface="Arial" pitchFamily="34" charset="0"/>
                <a:ea typeface="Arial" pitchFamily="34" charset="-122"/>
                <a:cs typeface="Arial" pitchFamily="34" charset="-120"/>
              </a:rPr>
              <a:t>Sample data on startup</a:t>
            </a:r>
            <a:endParaRPr lang="en-US" sz="1500" dirty="0"/>
          </a:p>
        </p:txBody>
      </p:sp>
      <p:sp>
        <p:nvSpPr>
          <p:cNvPr id="23" name="Text 21"/>
          <p:cNvSpPr/>
          <p:nvPr/>
        </p:nvSpPr>
        <p:spPr>
          <a:xfrm>
            <a:off x="1152144" y="5266944"/>
            <a:ext cx="4791456" cy="868680"/>
          </a:xfrm>
          <a:prstGeom prst="rect">
            <a:avLst/>
          </a:prstGeom>
          <a:noFill/>
          <a:ln/>
        </p:spPr>
        <p:txBody>
          <a:bodyPr wrap="square" lIns="0" tIns="0" rIns="0" bIns="0" rtlCol="0" anchor="t"/>
          <a:lstStyle/>
          <a:p>
            <a:pPr indent="0" marL="0">
              <a:lnSpc>
                <a:spcPct val="120000"/>
              </a:lnSpc>
              <a:buNone/>
            </a:pPr>
            <a:r>
              <a:rPr lang="en-US" sz="1250" dirty="0">
                <a:solidFill>
                  <a:srgbClr val="64748B"/>
                </a:solidFill>
                <a:latin typeface="Calibri" pitchFamily="34" charset="0"/>
                <a:ea typeface="Calibri" pitchFamily="34" charset="-122"/>
                <a:cs typeface="Calibri" pitchFamily="34" charset="-120"/>
              </a:rPr>
              <a:t>A seed script per profile. Clone, run, and the list view is already populated.</a:t>
            </a:r>
            <a:endParaRPr lang="en-US" sz="1250" dirty="0"/>
          </a:p>
        </p:txBody>
      </p:sp>
      <p:sp>
        <p:nvSpPr>
          <p:cNvPr id="24" name="Shape 22"/>
          <p:cNvSpPr/>
          <p:nvPr/>
        </p:nvSpPr>
        <p:spPr>
          <a:xfrm>
            <a:off x="6263640" y="4956048"/>
            <a:ext cx="329184" cy="329184"/>
          </a:xfrm>
          <a:prstGeom prst="ellipse">
            <a:avLst/>
          </a:prstGeom>
          <a:solidFill>
            <a:srgbClr val="FF5A3C"/>
          </a:solidFill>
          <a:ln/>
        </p:spPr>
      </p:sp>
      <p:sp>
        <p:nvSpPr>
          <p:cNvPr id="25" name="Text 23"/>
          <p:cNvSpPr/>
          <p:nvPr/>
        </p:nvSpPr>
        <p:spPr>
          <a:xfrm>
            <a:off x="6263640" y="4983480"/>
            <a:ext cx="329184"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a:t>
            </a:r>
            <a:endParaRPr lang="en-US" sz="1300" dirty="0"/>
          </a:p>
        </p:txBody>
      </p:sp>
      <p:sp>
        <p:nvSpPr>
          <p:cNvPr id="26" name="Text 24"/>
          <p:cNvSpPr/>
          <p:nvPr/>
        </p:nvSpPr>
        <p:spPr>
          <a:xfrm>
            <a:off x="6775704" y="4937760"/>
            <a:ext cx="4791456" cy="301752"/>
          </a:xfrm>
          <a:prstGeom prst="rect">
            <a:avLst/>
          </a:prstGeom>
          <a:noFill/>
          <a:ln/>
        </p:spPr>
        <p:txBody>
          <a:bodyPr wrap="square" lIns="0" tIns="0" rIns="0" bIns="0" rtlCol="0" anchor="t"/>
          <a:lstStyle/>
          <a:p>
            <a:pPr indent="0" marL="0">
              <a:buNone/>
            </a:pPr>
            <a:r>
              <a:rPr lang="en-US" sz="1500" b="1" dirty="0">
                <a:solidFill>
                  <a:srgbClr val="0E1420"/>
                </a:solidFill>
                <a:latin typeface="Arial" pitchFamily="34" charset="0"/>
                <a:ea typeface="Arial" pitchFamily="34" charset="-122"/>
                <a:cs typeface="Arial" pitchFamily="34" charset="-120"/>
              </a:rPr>
              <a:t>Bootstrap throughout</a:t>
            </a:r>
            <a:endParaRPr lang="en-US" sz="1500" dirty="0"/>
          </a:p>
        </p:txBody>
      </p:sp>
      <p:sp>
        <p:nvSpPr>
          <p:cNvPr id="27" name="Text 25"/>
          <p:cNvSpPr/>
          <p:nvPr/>
        </p:nvSpPr>
        <p:spPr>
          <a:xfrm>
            <a:off x="6775704" y="5266944"/>
            <a:ext cx="4791456" cy="868680"/>
          </a:xfrm>
          <a:prstGeom prst="rect">
            <a:avLst/>
          </a:prstGeom>
          <a:noFill/>
          <a:ln/>
        </p:spPr>
        <p:txBody>
          <a:bodyPr wrap="square" lIns="0" tIns="0" rIns="0" bIns="0" rtlCol="0" anchor="t"/>
          <a:lstStyle/>
          <a:p>
            <a:pPr indent="0" marL="0">
              <a:lnSpc>
                <a:spcPct val="120000"/>
              </a:lnSpc>
              <a:buNone/>
            </a:pPr>
            <a:r>
              <a:rPr lang="en-US" sz="1250" dirty="0">
                <a:solidFill>
                  <a:srgbClr val="64748B"/>
                </a:solidFill>
                <a:latin typeface="Calibri" pitchFamily="34" charset="0"/>
                <a:ea typeface="Calibri" pitchFamily="34" charset="-122"/>
                <a:cs typeface="Calibri" pitchFamily="34" charset="-120"/>
              </a:rPr>
              <a:t>One shared layout fragment, responsive from phone to desktop.</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7315200" cy="274320"/>
          </a:xfrm>
          <a:prstGeom prst="rect">
            <a:avLst/>
          </a:prstGeom>
          <a:noFill/>
          <a:ln/>
        </p:spPr>
        <p:txBody>
          <a:bodyPr wrap="square" lIns="0" tIns="0" rIns="0" bIns="0" rtlCol="0" anchor="ctr"/>
          <a:lstStyle/>
          <a:p>
            <a:pPr indent="0" marL="0">
              <a:buNone/>
            </a:pPr>
            <a:r>
              <a:rPr lang="en-US" sz="1100" b="1" spc="200" kern="0" dirty="0">
                <a:solidFill>
                  <a:srgbClr val="FF5A3C"/>
                </a:solidFill>
                <a:latin typeface="Arial" pitchFamily="34" charset="0"/>
                <a:ea typeface="Arial" pitchFamily="34" charset="-122"/>
                <a:cs typeface="Arial" pitchFamily="34" charset="-120"/>
              </a:rPr>
              <a:t>DELIVERABLE 2 · SECURITY</a:t>
            </a:r>
            <a:endParaRPr lang="en-US" sz="1100" dirty="0"/>
          </a:p>
        </p:txBody>
      </p:sp>
      <p:sp>
        <p:nvSpPr>
          <p:cNvPr id="3" name="Text 1"/>
          <p:cNvSpPr/>
          <p:nvPr/>
        </p:nvSpPr>
        <p:spPr>
          <a:xfrm>
            <a:off x="640080" y="777240"/>
            <a:ext cx="10881360" cy="1234440"/>
          </a:xfrm>
          <a:prstGeom prst="rect">
            <a:avLst/>
          </a:prstGeom>
          <a:noFill/>
          <a:ln/>
        </p:spPr>
        <p:txBody>
          <a:bodyPr wrap="square" lIns="0" tIns="0" rIns="0" bIns="0" rtlCol="0" anchor="t"/>
          <a:lstStyle/>
          <a:p>
            <a:pPr indent="0" marL="0">
              <a:buNone/>
            </a:pPr>
            <a:r>
              <a:rPr lang="en-US" sz="3400" b="1" dirty="0">
                <a:solidFill>
                  <a:srgbClr val="0E1420"/>
                </a:solidFill>
                <a:latin typeface="Arial" pitchFamily="34" charset="0"/>
                <a:ea typeface="Arial" pitchFamily="34" charset="-122"/>
                <a:cs typeface="Arial" pitchFamily="34" charset="-120"/>
              </a:rPr>
              <a:t>Accounts, roles and a protected admin area</a:t>
            </a:r>
            <a:endParaRPr lang="en-US" sz="3400" dirty="0"/>
          </a:p>
        </p:txBody>
      </p:sp>
      <p:sp>
        <p:nvSpPr>
          <p:cNvPr id="4" name="Shape 2"/>
          <p:cNvSpPr/>
          <p:nvPr/>
        </p:nvSpPr>
        <p:spPr>
          <a:xfrm>
            <a:off x="640080" y="2240280"/>
            <a:ext cx="420624" cy="420624"/>
          </a:xfrm>
          <a:prstGeom prst="ellipse">
            <a:avLst/>
          </a:prstGeom>
          <a:solidFill>
            <a:srgbClr val="FF5A3C"/>
          </a:solidFill>
          <a:ln/>
        </p:spPr>
      </p:sp>
      <p:sp>
        <p:nvSpPr>
          <p:cNvPr id="5" name="Text 3"/>
          <p:cNvSpPr/>
          <p:nvPr/>
        </p:nvSpPr>
        <p:spPr>
          <a:xfrm>
            <a:off x="640080" y="2290572"/>
            <a:ext cx="420624" cy="329184"/>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6" name="Text 4"/>
          <p:cNvSpPr/>
          <p:nvPr/>
        </p:nvSpPr>
        <p:spPr>
          <a:xfrm>
            <a:off x="1261872" y="2221992"/>
            <a:ext cx="4590288" cy="310896"/>
          </a:xfrm>
          <a:prstGeom prst="rect">
            <a:avLst/>
          </a:prstGeom>
          <a:noFill/>
          <a:ln/>
        </p:spPr>
        <p:txBody>
          <a:bodyPr wrap="square" lIns="0" tIns="0" rIns="0" bIns="0" rtlCol="0" anchor="t"/>
          <a:lstStyle/>
          <a:p>
            <a:pPr indent="0" marL="0">
              <a:buNone/>
            </a:pPr>
            <a:r>
              <a:rPr lang="en-US" sz="1600" b="1" dirty="0">
                <a:solidFill>
                  <a:srgbClr val="0E1420"/>
                </a:solidFill>
                <a:latin typeface="Arial" pitchFamily="34" charset="0"/>
                <a:ea typeface="Arial" pitchFamily="34" charset="-122"/>
                <a:cs typeface="Arial" pitchFamily="34" charset="-120"/>
              </a:rPr>
              <a:t>Registration and passwords</a:t>
            </a:r>
            <a:endParaRPr lang="en-US" sz="1600" dirty="0"/>
          </a:p>
        </p:txBody>
      </p:sp>
      <p:sp>
        <p:nvSpPr>
          <p:cNvPr id="7" name="Text 5"/>
          <p:cNvSpPr/>
          <p:nvPr/>
        </p:nvSpPr>
        <p:spPr>
          <a:xfrm>
            <a:off x="1261872" y="2551176"/>
            <a:ext cx="4590288" cy="685800"/>
          </a:xfrm>
          <a:prstGeom prst="rect">
            <a:avLst/>
          </a:prstGeom>
          <a:noFill/>
          <a:ln/>
        </p:spPr>
        <p:txBody>
          <a:bodyPr wrap="square" lIns="0" tIns="0" rIns="0" bIns="0" rtlCol="0" anchor="t"/>
          <a:lstStyle/>
          <a:p>
            <a:pPr indent="0" marL="0">
              <a:buNone/>
            </a:pPr>
            <a:r>
              <a:rPr lang="en-US" sz="1300" dirty="0">
                <a:solidFill>
                  <a:srgbClr val="64748B"/>
                </a:solidFill>
                <a:latin typeface="Calibri" pitchFamily="34" charset="0"/>
                <a:ea typeface="Calibri" pitchFamily="34" charset="-122"/>
                <a:cs typeface="Calibri" pitchFamily="34" charset="-120"/>
              </a:rPr>
              <a:t>New accounts are encoded with BCrypt at strength 10. The plain password is never stored, never logged, and never leaves the form object.</a:t>
            </a:r>
            <a:endParaRPr lang="en-US" sz="1300" dirty="0"/>
          </a:p>
        </p:txBody>
      </p:sp>
      <p:sp>
        <p:nvSpPr>
          <p:cNvPr id="8" name="Shape 6"/>
          <p:cNvSpPr/>
          <p:nvPr/>
        </p:nvSpPr>
        <p:spPr>
          <a:xfrm>
            <a:off x="640080" y="3657600"/>
            <a:ext cx="420624" cy="420624"/>
          </a:xfrm>
          <a:prstGeom prst="ellipse">
            <a:avLst/>
          </a:prstGeom>
          <a:solidFill>
            <a:srgbClr val="0E1420"/>
          </a:solidFill>
          <a:ln/>
        </p:spPr>
      </p:sp>
      <p:sp>
        <p:nvSpPr>
          <p:cNvPr id="9" name="Text 7"/>
          <p:cNvSpPr/>
          <p:nvPr/>
        </p:nvSpPr>
        <p:spPr>
          <a:xfrm>
            <a:off x="640080" y="3707892"/>
            <a:ext cx="420624" cy="329184"/>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0" name="Text 8"/>
          <p:cNvSpPr/>
          <p:nvPr/>
        </p:nvSpPr>
        <p:spPr>
          <a:xfrm>
            <a:off x="1261872" y="3639312"/>
            <a:ext cx="4590288" cy="310896"/>
          </a:xfrm>
          <a:prstGeom prst="rect">
            <a:avLst/>
          </a:prstGeom>
          <a:noFill/>
          <a:ln/>
        </p:spPr>
        <p:txBody>
          <a:bodyPr wrap="square" lIns="0" tIns="0" rIns="0" bIns="0" rtlCol="0" anchor="t"/>
          <a:lstStyle/>
          <a:p>
            <a:pPr indent="0" marL="0">
              <a:buNone/>
            </a:pPr>
            <a:r>
              <a:rPr lang="en-US" sz="1600" b="1" dirty="0">
                <a:solidFill>
                  <a:srgbClr val="0E1420"/>
                </a:solidFill>
                <a:latin typeface="Arial" pitchFamily="34" charset="0"/>
                <a:ea typeface="Arial" pitchFamily="34" charset="-122"/>
                <a:cs typeface="Arial" pitchFamily="34" charset="-120"/>
              </a:rPr>
              <a:t>Authentication</a:t>
            </a:r>
            <a:endParaRPr lang="en-US" sz="1600" dirty="0"/>
          </a:p>
        </p:txBody>
      </p:sp>
      <p:sp>
        <p:nvSpPr>
          <p:cNvPr id="11" name="Text 9"/>
          <p:cNvSpPr/>
          <p:nvPr/>
        </p:nvSpPr>
        <p:spPr>
          <a:xfrm>
            <a:off x="1261872" y="3968496"/>
            <a:ext cx="4590288" cy="685800"/>
          </a:xfrm>
          <a:prstGeom prst="rect">
            <a:avLst/>
          </a:prstGeom>
          <a:noFill/>
          <a:ln/>
        </p:spPr>
        <p:txBody>
          <a:bodyPr wrap="square" lIns="0" tIns="0" rIns="0" bIns="0" rtlCol="0" anchor="t"/>
          <a:lstStyle/>
          <a:p>
            <a:pPr indent="0" marL="0">
              <a:buNone/>
            </a:pPr>
            <a:r>
              <a:rPr lang="en-US" sz="1300" dirty="0">
                <a:solidFill>
                  <a:srgbClr val="64748B"/>
                </a:solidFill>
                <a:latin typeface="Calibri" pitchFamily="34" charset="0"/>
                <a:ea typeface="Calibri" pitchFamily="34" charset="-122"/>
                <a:cs typeface="Calibri" pitchFamily="34" charset="-120"/>
              </a:rPr>
              <a:t>Our User entity implements Spring Security's UserDetails, so we authenticate against the same row the application reads for profile data.</a:t>
            </a:r>
            <a:endParaRPr lang="en-US" sz="1300" dirty="0"/>
          </a:p>
        </p:txBody>
      </p:sp>
      <p:sp>
        <p:nvSpPr>
          <p:cNvPr id="12" name="Shape 10"/>
          <p:cNvSpPr/>
          <p:nvPr/>
        </p:nvSpPr>
        <p:spPr>
          <a:xfrm>
            <a:off x="6400800" y="2240280"/>
            <a:ext cx="420624" cy="420624"/>
          </a:xfrm>
          <a:prstGeom prst="ellipse">
            <a:avLst/>
          </a:prstGeom>
          <a:solidFill>
            <a:srgbClr val="0E1420"/>
          </a:solidFill>
          <a:ln/>
        </p:spPr>
      </p:sp>
      <p:sp>
        <p:nvSpPr>
          <p:cNvPr id="13" name="Text 11"/>
          <p:cNvSpPr/>
          <p:nvPr/>
        </p:nvSpPr>
        <p:spPr>
          <a:xfrm>
            <a:off x="6400800" y="2290572"/>
            <a:ext cx="420624" cy="329184"/>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14" name="Text 12"/>
          <p:cNvSpPr/>
          <p:nvPr/>
        </p:nvSpPr>
        <p:spPr>
          <a:xfrm>
            <a:off x="7022592" y="2221992"/>
            <a:ext cx="4498848" cy="310896"/>
          </a:xfrm>
          <a:prstGeom prst="rect">
            <a:avLst/>
          </a:prstGeom>
          <a:noFill/>
          <a:ln/>
        </p:spPr>
        <p:txBody>
          <a:bodyPr wrap="square" lIns="0" tIns="0" rIns="0" bIns="0" rtlCol="0" anchor="t"/>
          <a:lstStyle/>
          <a:p>
            <a:pPr indent="0" marL="0">
              <a:buNone/>
            </a:pPr>
            <a:r>
              <a:rPr lang="en-US" sz="1600" b="1" dirty="0">
                <a:solidFill>
                  <a:srgbClr val="0E1420"/>
                </a:solidFill>
                <a:latin typeface="Arial" pitchFamily="34" charset="0"/>
                <a:ea typeface="Arial" pitchFamily="34" charset="-122"/>
                <a:cs typeface="Arial" pitchFamily="34" charset="-120"/>
              </a:rPr>
              <a:t>Protected routes</a:t>
            </a:r>
            <a:endParaRPr lang="en-US" sz="1600" dirty="0"/>
          </a:p>
        </p:txBody>
      </p:sp>
      <p:sp>
        <p:nvSpPr>
          <p:cNvPr id="15" name="Text 13"/>
          <p:cNvSpPr/>
          <p:nvPr/>
        </p:nvSpPr>
        <p:spPr>
          <a:xfrm>
            <a:off x="7022592" y="2551176"/>
            <a:ext cx="4498848" cy="685800"/>
          </a:xfrm>
          <a:prstGeom prst="rect">
            <a:avLst/>
          </a:prstGeom>
          <a:noFill/>
          <a:ln/>
        </p:spPr>
        <p:txBody>
          <a:bodyPr wrap="square" lIns="0" tIns="0" rIns="0" bIns="0" rtlCol="0" anchor="t"/>
          <a:lstStyle/>
          <a:p>
            <a:pPr indent="0" marL="0">
              <a:buNone/>
            </a:pPr>
            <a:r>
              <a:rPr lang="en-US" sz="1300" dirty="0">
                <a:solidFill>
                  <a:srgbClr val="64748B"/>
                </a:solidFill>
                <a:latin typeface="Calibri" pitchFamily="34" charset="0"/>
                <a:ea typeface="Calibri" pitchFamily="34" charset="-122"/>
                <a:cs typeface="Calibri" pitchFamily="34" charset="-120"/>
              </a:rPr>
              <a:t>Public: home, about, guide, the read-only listings, login and registration. Everything that creates, edits or deletes needs a session.</a:t>
            </a:r>
            <a:endParaRPr lang="en-US" sz="1300" dirty="0"/>
          </a:p>
        </p:txBody>
      </p:sp>
      <p:sp>
        <p:nvSpPr>
          <p:cNvPr id="16" name="Shape 14"/>
          <p:cNvSpPr/>
          <p:nvPr/>
        </p:nvSpPr>
        <p:spPr>
          <a:xfrm>
            <a:off x="6400800" y="3657600"/>
            <a:ext cx="420624" cy="420624"/>
          </a:xfrm>
          <a:prstGeom prst="ellipse">
            <a:avLst/>
          </a:prstGeom>
          <a:solidFill>
            <a:srgbClr val="16A34A"/>
          </a:solidFill>
          <a:ln/>
        </p:spPr>
      </p:sp>
      <p:sp>
        <p:nvSpPr>
          <p:cNvPr id="17" name="Text 15"/>
          <p:cNvSpPr/>
          <p:nvPr/>
        </p:nvSpPr>
        <p:spPr>
          <a:xfrm>
            <a:off x="6400800" y="3707892"/>
            <a:ext cx="420624" cy="329184"/>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4</a:t>
            </a:r>
            <a:endParaRPr lang="en-US" sz="1500" dirty="0"/>
          </a:p>
        </p:txBody>
      </p:sp>
      <p:sp>
        <p:nvSpPr>
          <p:cNvPr id="18" name="Text 16"/>
          <p:cNvSpPr/>
          <p:nvPr/>
        </p:nvSpPr>
        <p:spPr>
          <a:xfrm>
            <a:off x="7022592" y="3639312"/>
            <a:ext cx="4498848" cy="310896"/>
          </a:xfrm>
          <a:prstGeom prst="rect">
            <a:avLst/>
          </a:prstGeom>
          <a:noFill/>
          <a:ln/>
        </p:spPr>
        <p:txBody>
          <a:bodyPr wrap="square" lIns="0" tIns="0" rIns="0" bIns="0" rtlCol="0" anchor="t"/>
          <a:lstStyle/>
          <a:p>
            <a:pPr indent="0" marL="0">
              <a:buNone/>
            </a:pPr>
            <a:r>
              <a:rPr lang="en-US" sz="1600" b="1" dirty="0">
                <a:solidFill>
                  <a:srgbClr val="0E1420"/>
                </a:solidFill>
                <a:latin typeface="Arial" pitchFamily="34" charset="0"/>
                <a:ea typeface="Arial" pitchFamily="34" charset="-122"/>
                <a:cs typeface="Arial" pitchFamily="34" charset="-120"/>
              </a:rPr>
              <a:t>Admin area</a:t>
            </a:r>
            <a:endParaRPr lang="en-US" sz="1600" dirty="0"/>
          </a:p>
        </p:txBody>
      </p:sp>
      <p:sp>
        <p:nvSpPr>
          <p:cNvPr id="19" name="Text 17"/>
          <p:cNvSpPr/>
          <p:nvPr/>
        </p:nvSpPr>
        <p:spPr>
          <a:xfrm>
            <a:off x="7022592" y="3968496"/>
            <a:ext cx="4498848" cy="685800"/>
          </a:xfrm>
          <a:prstGeom prst="rect">
            <a:avLst/>
          </a:prstGeom>
          <a:noFill/>
          <a:ln/>
        </p:spPr>
        <p:txBody>
          <a:bodyPr wrap="square" lIns="0" tIns="0" rIns="0" bIns="0" rtlCol="0" anchor="t"/>
          <a:lstStyle/>
          <a:p>
            <a:pPr indent="0" marL="0">
              <a:buNone/>
            </a:pPr>
            <a:r>
              <a:rPr lang="en-US" sz="1300" dirty="0">
                <a:solidFill>
                  <a:srgbClr val="64748B"/>
                </a:solidFill>
                <a:latin typeface="Calibri" pitchFamily="34" charset="0"/>
                <a:ea typeface="Calibri" pitchFamily="34" charset="-122"/>
                <a:cs typeface="Calibri" pitchFamily="34" charset="-120"/>
              </a:rPr>
              <a:t>A four-section console behind hasRole('ADMIN') - users and roles, every workout, every program, and the remote nutrition service.</a:t>
            </a:r>
            <a:endParaRPr lang="en-US" sz="1300" dirty="0"/>
          </a:p>
        </p:txBody>
      </p:sp>
      <p:sp>
        <p:nvSpPr>
          <p:cNvPr id="20" name="Text 18"/>
          <p:cNvSpPr/>
          <p:nvPr/>
        </p:nvSpPr>
        <p:spPr>
          <a:xfrm>
            <a:off x="640080" y="5257800"/>
            <a:ext cx="10881360" cy="548640"/>
          </a:xfrm>
          <a:prstGeom prst="rect">
            <a:avLst/>
          </a:prstGeom>
          <a:noFill/>
          <a:ln/>
        </p:spPr>
        <p:txBody>
          <a:bodyPr wrap="square" lIns="0" tIns="0" rIns="0" bIns="0" rtlCol="0" anchor="ctr"/>
          <a:lstStyle/>
          <a:p>
            <a:pPr indent="0" marL="0">
              <a:lnSpc>
                <a:spcPct val="120000"/>
              </a:lnSpc>
              <a:buNone/>
            </a:pPr>
            <a:r>
              <a:rPr lang="en-US" sz="1250" i="1" dirty="0">
                <a:solidFill>
                  <a:srgbClr val="64748B"/>
                </a:solidFill>
                <a:latin typeface="Calibri" pitchFamily="34" charset="0"/>
                <a:ea typeface="Calibri" pitchFamily="34" charset="-122"/>
                <a:cs typeface="Calibri" pitchFamily="34" charset="-120"/>
              </a:rPr>
              <a:t>A custom login page reports bad credentials in plain language, and a refused request renders a branded page that names the role you are actually signed in with.</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7315200" cy="274320"/>
          </a:xfrm>
          <a:prstGeom prst="rect">
            <a:avLst/>
          </a:prstGeom>
          <a:noFill/>
          <a:ln/>
        </p:spPr>
        <p:txBody>
          <a:bodyPr wrap="square" lIns="0" tIns="0" rIns="0" bIns="0" rtlCol="0" anchor="ctr"/>
          <a:lstStyle/>
          <a:p>
            <a:pPr indent="0" marL="0">
              <a:buNone/>
            </a:pPr>
            <a:r>
              <a:rPr lang="en-US" sz="1100" b="1" spc="200" kern="0" dirty="0">
                <a:solidFill>
                  <a:srgbClr val="FF5A3C"/>
                </a:solidFill>
                <a:latin typeface="Arial" pitchFamily="34" charset="0"/>
                <a:ea typeface="Arial" pitchFamily="34" charset="-122"/>
                <a:cs typeface="Arial" pitchFamily="34" charset="-120"/>
              </a:rPr>
              <a:t>DELIVERABLE 3 · CONFIGURATION</a:t>
            </a:r>
            <a:endParaRPr lang="en-US" sz="1100" dirty="0"/>
          </a:p>
        </p:txBody>
      </p:sp>
      <p:sp>
        <p:nvSpPr>
          <p:cNvPr id="3" name="Text 1"/>
          <p:cNvSpPr/>
          <p:nvPr/>
        </p:nvSpPr>
        <p:spPr>
          <a:xfrm>
            <a:off x="640080" y="777240"/>
            <a:ext cx="10881360" cy="1234440"/>
          </a:xfrm>
          <a:prstGeom prst="rect">
            <a:avLst/>
          </a:prstGeom>
          <a:noFill/>
          <a:ln/>
        </p:spPr>
        <p:txBody>
          <a:bodyPr wrap="square" lIns="0" tIns="0" rIns="0" bIns="0" rtlCol="0" anchor="t"/>
          <a:lstStyle/>
          <a:p>
            <a:pPr indent="0" marL="0">
              <a:buNone/>
            </a:pPr>
            <a:r>
              <a:rPr lang="en-US" sz="3400" b="1" dirty="0">
                <a:solidFill>
                  <a:srgbClr val="0E1420"/>
                </a:solidFill>
                <a:latin typeface="Arial" pitchFamily="34" charset="0"/>
                <a:ea typeface="Arial" pitchFamily="34" charset="-122"/>
                <a:cs typeface="Arial" pitchFamily="34" charset="-120"/>
              </a:rPr>
              <a:t>Every setting moved to hierarchical YAML</a:t>
            </a:r>
            <a:endParaRPr lang="en-US" sz="3400" dirty="0"/>
          </a:p>
        </p:txBody>
      </p:sp>
      <p:sp>
        <p:nvSpPr>
          <p:cNvPr id="4" name="Shape 2"/>
          <p:cNvSpPr/>
          <p:nvPr/>
        </p:nvSpPr>
        <p:spPr>
          <a:xfrm>
            <a:off x="640080" y="2240280"/>
            <a:ext cx="5029200" cy="2148840"/>
          </a:xfrm>
          <a:prstGeom prst="roundRect">
            <a:avLst>
              <a:gd name="adj" fmla="val 3404"/>
            </a:avLst>
          </a:prstGeom>
          <a:solidFill>
            <a:srgbClr val="F6F7FB"/>
          </a:solidFill>
          <a:ln w="12700">
            <a:solidFill>
              <a:srgbClr val="E4E7EF"/>
            </a:solidFill>
            <a:prstDash val="solid"/>
          </a:ln>
        </p:spPr>
      </p:sp>
      <p:sp>
        <p:nvSpPr>
          <p:cNvPr id="5" name="Text 3"/>
          <p:cNvSpPr/>
          <p:nvPr/>
        </p:nvSpPr>
        <p:spPr>
          <a:xfrm>
            <a:off x="914400" y="2423160"/>
            <a:ext cx="4480560" cy="274320"/>
          </a:xfrm>
          <a:prstGeom prst="rect">
            <a:avLst/>
          </a:prstGeom>
          <a:noFill/>
          <a:ln/>
        </p:spPr>
        <p:txBody>
          <a:bodyPr wrap="square" lIns="0" tIns="0" rIns="0" bIns="0" rtlCol="0" anchor="ctr"/>
          <a:lstStyle/>
          <a:p>
            <a:pPr indent="0" marL="0">
              <a:buNone/>
            </a:pPr>
            <a:r>
              <a:rPr lang="en-US" sz="1300" b="1" dirty="0">
                <a:solidFill>
                  <a:srgbClr val="64748B"/>
                </a:solidFill>
                <a:latin typeface="Arial" pitchFamily="34" charset="0"/>
                <a:ea typeface="Arial" pitchFamily="34" charset="-122"/>
                <a:cs typeface="Arial" pitchFamily="34" charset="-120"/>
              </a:rPr>
              <a:t>Before</a:t>
            </a:r>
            <a:endParaRPr lang="en-US" sz="1300" dirty="0"/>
          </a:p>
        </p:txBody>
      </p:sp>
      <p:sp>
        <p:nvSpPr>
          <p:cNvPr id="6" name="Text 4"/>
          <p:cNvSpPr/>
          <p:nvPr/>
        </p:nvSpPr>
        <p:spPr>
          <a:xfrm>
            <a:off x="914400" y="2788920"/>
            <a:ext cx="4480560" cy="1417320"/>
          </a:xfrm>
          <a:prstGeom prst="rect">
            <a:avLst/>
          </a:prstGeom>
          <a:noFill/>
          <a:ln/>
        </p:spPr>
        <p:txBody>
          <a:bodyPr wrap="square" lIns="0" tIns="0" rIns="0" bIns="0" rtlCol="0" anchor="ctr"/>
          <a:lstStyle/>
          <a:p>
            <a:pPr indent="0" marL="0">
              <a:lnSpc>
                <a:spcPct val="125000"/>
              </a:lnSpc>
              <a:buNone/>
            </a:pPr>
            <a:r>
              <a:rPr lang="en-US" sz="1300" dirty="0">
                <a:solidFill>
                  <a:srgbClr val="1A2333"/>
                </a:solidFill>
                <a:latin typeface="Calibri" pitchFamily="34" charset="0"/>
                <a:ea typeface="Calibri" pitchFamily="34" charset="-122"/>
                <a:cs typeface="Calibri" pitchFamily="34" charset="-120"/>
              </a:rPr>
              <a:t>application.properties</a:t>
            </a:r>
            <a:endParaRPr lang="en-US" sz="1300" dirty="0"/>
          </a:p>
          <a:p>
            <a:pPr indent="0" marL="0">
              <a:lnSpc>
                <a:spcPct val="125000"/>
              </a:lnSpc>
              <a:buNone/>
            </a:pPr>
            <a:endParaRPr lang="en-US" sz="1300" dirty="0"/>
          </a:p>
          <a:p>
            <a:pPr indent="0" marL="0">
              <a:lnSpc>
                <a:spcPct val="125000"/>
              </a:lnSpc>
              <a:buNone/>
            </a:pPr>
            <a:r>
              <a:rPr lang="en-US" sz="1300" dirty="0">
                <a:solidFill>
                  <a:srgbClr val="1A2333"/>
                </a:solidFill>
                <a:latin typeface="Calibri" pitchFamily="34" charset="0"/>
                <a:ea typeface="Calibri" pitchFamily="34" charset="-122"/>
                <a:cs typeface="Calibri" pitchFamily="34" charset="-120"/>
              </a:rPr>
              <a:t>One flat file. One database.</a:t>
            </a:r>
            <a:endParaRPr lang="en-US" sz="1300" dirty="0"/>
          </a:p>
          <a:p>
            <a:pPr indent="0" marL="0">
              <a:lnSpc>
                <a:spcPct val="125000"/>
              </a:lnSpc>
              <a:buNone/>
            </a:pPr>
            <a:r>
              <a:rPr lang="en-US" sz="1300" dirty="0">
                <a:solidFill>
                  <a:srgbClr val="1A2333"/>
                </a:solidFill>
                <a:latin typeface="Calibri" pitchFamily="34" charset="0"/>
                <a:ea typeface="Calibri" pitchFamily="34" charset="-122"/>
                <a:cs typeface="Calibri" pitchFamily="34" charset="-120"/>
              </a:rPr>
              <a:t>Changing environment meant editing</a:t>
            </a:r>
            <a:endParaRPr lang="en-US" sz="1300" dirty="0"/>
          </a:p>
          <a:p>
            <a:pPr indent="0" marL="0">
              <a:lnSpc>
                <a:spcPct val="125000"/>
              </a:lnSpc>
              <a:buNone/>
            </a:pPr>
            <a:r>
              <a:rPr lang="en-US" sz="1300" dirty="0">
                <a:solidFill>
                  <a:srgbClr val="1A2333"/>
                </a:solidFill>
                <a:latin typeface="Calibri" pitchFamily="34" charset="0"/>
                <a:ea typeface="Calibri" pitchFamily="34" charset="-122"/>
                <a:cs typeface="Calibri" pitchFamily="34" charset="-120"/>
              </a:rPr>
              <a:t>the file and rebuilding.</a:t>
            </a:r>
            <a:endParaRPr lang="en-US" sz="1300" dirty="0"/>
          </a:p>
        </p:txBody>
      </p:sp>
      <p:sp>
        <p:nvSpPr>
          <p:cNvPr id="7" name="Shape 5"/>
          <p:cNvSpPr/>
          <p:nvPr/>
        </p:nvSpPr>
        <p:spPr>
          <a:xfrm>
            <a:off x="6492240" y="2240280"/>
            <a:ext cx="5029200" cy="2148840"/>
          </a:xfrm>
          <a:prstGeom prst="roundRect">
            <a:avLst>
              <a:gd name="adj" fmla="val 3404"/>
            </a:avLst>
          </a:prstGeom>
          <a:solidFill>
            <a:srgbClr val="0E1420"/>
          </a:solidFill>
          <a:ln w="12700">
            <a:solidFill>
              <a:srgbClr val="0E1420"/>
            </a:solidFill>
            <a:prstDash val="solid"/>
          </a:ln>
        </p:spPr>
      </p:sp>
      <p:sp>
        <p:nvSpPr>
          <p:cNvPr id="8" name="Text 6"/>
          <p:cNvSpPr/>
          <p:nvPr/>
        </p:nvSpPr>
        <p:spPr>
          <a:xfrm>
            <a:off x="6766560" y="2423160"/>
            <a:ext cx="4480560" cy="274320"/>
          </a:xfrm>
          <a:prstGeom prst="rect">
            <a:avLst/>
          </a:prstGeom>
          <a:noFill/>
          <a:ln/>
        </p:spPr>
        <p:txBody>
          <a:bodyPr wrap="square" lIns="0" tIns="0" rIns="0" bIns="0" rtlCol="0" anchor="ctr"/>
          <a:lstStyle/>
          <a:p>
            <a:pPr indent="0" marL="0">
              <a:buNone/>
            </a:pPr>
            <a:r>
              <a:rPr lang="en-US" sz="1300" b="1" dirty="0">
                <a:solidFill>
                  <a:srgbClr val="C8F24C"/>
                </a:solidFill>
                <a:latin typeface="Arial" pitchFamily="34" charset="0"/>
                <a:ea typeface="Arial" pitchFamily="34" charset="-122"/>
                <a:cs typeface="Arial" pitchFamily="34" charset="-120"/>
              </a:rPr>
              <a:t>After</a:t>
            </a:r>
            <a:endParaRPr lang="en-US" sz="1300" dirty="0"/>
          </a:p>
        </p:txBody>
      </p:sp>
      <p:sp>
        <p:nvSpPr>
          <p:cNvPr id="9" name="Text 7"/>
          <p:cNvSpPr/>
          <p:nvPr/>
        </p:nvSpPr>
        <p:spPr>
          <a:xfrm>
            <a:off x="6766560" y="2788920"/>
            <a:ext cx="4480560" cy="1417320"/>
          </a:xfrm>
          <a:prstGeom prst="rect">
            <a:avLst/>
          </a:prstGeom>
          <a:noFill/>
          <a:ln/>
        </p:spPr>
        <p:txBody>
          <a:bodyPr wrap="square" lIns="0" tIns="0" rIns="0" bIns="0" rtlCol="0" anchor="ctr"/>
          <a:lstStyle/>
          <a:p>
            <a:pPr indent="0" marL="0">
              <a:lnSpc>
                <a:spcPct val="125000"/>
              </a:lnSpc>
              <a:buNone/>
            </a:pPr>
            <a:r>
              <a:rPr lang="en-US" sz="1300" dirty="0">
                <a:solidFill>
                  <a:srgbClr val="C9CFDA"/>
                </a:solidFill>
                <a:latin typeface="Calibri" pitchFamily="34" charset="0"/>
                <a:ea typeface="Calibri" pitchFamily="34" charset="-122"/>
                <a:cs typeface="Calibri" pitchFamily="34" charset="-120"/>
              </a:rPr>
              <a:t>application.yml          common</a:t>
            </a:r>
            <a:endParaRPr lang="en-US" sz="1300" dirty="0"/>
          </a:p>
          <a:p>
            <a:pPr indent="0" marL="0">
              <a:lnSpc>
                <a:spcPct val="125000"/>
              </a:lnSpc>
              <a:buNone/>
            </a:pPr>
            <a:r>
              <a:rPr lang="en-US" sz="1300" dirty="0">
                <a:solidFill>
                  <a:srgbClr val="C9CFDA"/>
                </a:solidFill>
                <a:latin typeface="Calibri" pitchFamily="34" charset="0"/>
                <a:ea typeface="Calibri" pitchFamily="34" charset="-122"/>
                <a:cs typeface="Calibri" pitchFamily="34" charset="-120"/>
              </a:rPr>
              <a:t>application-dev.yml      H2, in memory</a:t>
            </a:r>
            <a:endParaRPr lang="en-US" sz="1300" dirty="0"/>
          </a:p>
          <a:p>
            <a:pPr indent="0" marL="0">
              <a:lnSpc>
                <a:spcPct val="125000"/>
              </a:lnSpc>
              <a:buNone/>
            </a:pPr>
            <a:r>
              <a:rPr lang="en-US" sz="1300" dirty="0">
                <a:solidFill>
                  <a:srgbClr val="C9CFDA"/>
                </a:solidFill>
                <a:latin typeface="Calibri" pitchFamily="34" charset="0"/>
                <a:ea typeface="Calibri" pitchFamily="34" charset="-122"/>
                <a:cs typeface="Calibri" pitchFamily="34" charset="-120"/>
              </a:rPr>
              <a:t>application-prod.yml    MySQL</a:t>
            </a:r>
            <a:endParaRPr lang="en-US" sz="1300" dirty="0"/>
          </a:p>
          <a:p>
            <a:pPr indent="0" marL="0">
              <a:lnSpc>
                <a:spcPct val="125000"/>
              </a:lnSpc>
              <a:buNone/>
            </a:pPr>
            <a:endParaRPr lang="en-US" sz="1300" dirty="0"/>
          </a:p>
          <a:p>
            <a:pPr indent="0" marL="0">
              <a:lnSpc>
                <a:spcPct val="125000"/>
              </a:lnSpc>
              <a:buNone/>
            </a:pPr>
            <a:r>
              <a:rPr lang="en-US" sz="1300" dirty="0">
                <a:solidFill>
                  <a:srgbClr val="C9CFDA"/>
                </a:solidFill>
                <a:latin typeface="Calibri" pitchFamily="34" charset="0"/>
                <a:ea typeface="Calibri" pitchFamily="34" charset="-122"/>
                <a:cs typeface="Calibri" pitchFamily="34" charset="-120"/>
              </a:rPr>
              <a:t>Credentials injected as ${DB_PASSWORD:root}</a:t>
            </a:r>
            <a:endParaRPr lang="en-US" sz="1300" dirty="0"/>
          </a:p>
        </p:txBody>
      </p:sp>
      <p:sp>
        <p:nvSpPr>
          <p:cNvPr id="10" name="Text 8"/>
          <p:cNvSpPr/>
          <p:nvPr/>
        </p:nvSpPr>
        <p:spPr>
          <a:xfrm>
            <a:off x="640080" y="4617720"/>
            <a:ext cx="10881360" cy="292608"/>
          </a:xfrm>
          <a:prstGeom prst="rect">
            <a:avLst/>
          </a:prstGeom>
          <a:noFill/>
          <a:ln/>
        </p:spPr>
        <p:txBody>
          <a:bodyPr wrap="square" lIns="0" tIns="0" rIns="0" bIns="0" rtlCol="0" anchor="ctr"/>
          <a:lstStyle/>
          <a:p>
            <a:pPr indent="0" marL="0">
              <a:buNone/>
            </a:pPr>
            <a:r>
              <a:rPr lang="en-US" sz="1350" b="1" dirty="0">
                <a:solidFill>
                  <a:srgbClr val="0E1420"/>
                </a:solidFill>
                <a:latin typeface="Calibri" pitchFamily="34" charset="0"/>
                <a:ea typeface="Calibri" pitchFamily="34" charset="-122"/>
                <a:cs typeface="Calibri" pitchFamily="34" charset="-120"/>
              </a:rPr>
              <a:t>Switching database is a flag, never a code change:</a:t>
            </a:r>
            <a:endParaRPr lang="en-US" sz="1350" dirty="0"/>
          </a:p>
        </p:txBody>
      </p:sp>
      <p:sp>
        <p:nvSpPr>
          <p:cNvPr id="11" name="Shape 9"/>
          <p:cNvSpPr/>
          <p:nvPr/>
        </p:nvSpPr>
        <p:spPr>
          <a:xfrm>
            <a:off x="640080" y="4983480"/>
            <a:ext cx="10881360" cy="960120"/>
          </a:xfrm>
          <a:prstGeom prst="roundRect">
            <a:avLst>
              <a:gd name="adj" fmla="val 5714"/>
            </a:avLst>
          </a:prstGeom>
          <a:solidFill>
            <a:srgbClr val="F6F7FB"/>
          </a:solidFill>
          <a:ln w="12700">
            <a:solidFill>
              <a:srgbClr val="E4E7EF"/>
            </a:solidFill>
            <a:prstDash val="solid"/>
          </a:ln>
        </p:spPr>
      </p:sp>
      <p:sp>
        <p:nvSpPr>
          <p:cNvPr id="12" name="Text 10"/>
          <p:cNvSpPr/>
          <p:nvPr/>
        </p:nvSpPr>
        <p:spPr>
          <a:xfrm>
            <a:off x="914400" y="5138928"/>
            <a:ext cx="10332720" cy="685800"/>
          </a:xfrm>
          <a:prstGeom prst="rect">
            <a:avLst/>
          </a:prstGeom>
          <a:noFill/>
          <a:ln/>
        </p:spPr>
        <p:txBody>
          <a:bodyPr wrap="square" lIns="0" tIns="0" rIns="0" bIns="0" rtlCol="0" anchor="ctr"/>
          <a:lstStyle/>
          <a:p>
            <a:pPr indent="0" marL="0">
              <a:lnSpc>
                <a:spcPct val="130000"/>
              </a:lnSpc>
              <a:buNone/>
            </a:pPr>
            <a:r>
              <a:rPr lang="en-US" sz="1250" dirty="0">
                <a:solidFill>
                  <a:srgbClr val="1A2333"/>
                </a:solidFill>
                <a:latin typeface="Courier New" pitchFamily="34" charset="0"/>
                <a:ea typeface="Courier New" pitchFamily="34" charset="-122"/>
                <a:cs typeface="Courier New" pitchFamily="34" charset="-120"/>
              </a:rPr>
              <a:t>mvn spring-boot:run -Dspring-boot.run.profiles=prod</a:t>
            </a:r>
            <a:endParaRPr lang="en-US" sz="1250" dirty="0"/>
          </a:p>
          <a:p>
            <a:pPr indent="0" marL="0">
              <a:lnSpc>
                <a:spcPct val="130000"/>
              </a:lnSpc>
              <a:buNone/>
            </a:pPr>
            <a:r>
              <a:rPr lang="en-US" sz="1250" dirty="0">
                <a:solidFill>
                  <a:srgbClr val="1A2333"/>
                </a:solidFill>
                <a:latin typeface="Courier New" pitchFamily="34" charset="0"/>
                <a:ea typeface="Courier New" pitchFamily="34" charset="-122"/>
                <a:cs typeface="Courier New" pitchFamily="34" charset="-120"/>
              </a:rPr>
              <a:t>java -Dspring.profiles.active=prod -jar target/workout-tracker-1.0.0.jar</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7315200" cy="274320"/>
          </a:xfrm>
          <a:prstGeom prst="rect">
            <a:avLst/>
          </a:prstGeom>
          <a:noFill/>
          <a:ln/>
        </p:spPr>
        <p:txBody>
          <a:bodyPr wrap="square" lIns="0" tIns="0" rIns="0" bIns="0" rtlCol="0" anchor="ctr"/>
          <a:lstStyle/>
          <a:p>
            <a:pPr indent="0" marL="0">
              <a:buNone/>
            </a:pPr>
            <a:r>
              <a:rPr lang="en-US" sz="1100" b="1" spc="200" kern="0" dirty="0">
                <a:solidFill>
                  <a:srgbClr val="FF5A3C"/>
                </a:solidFill>
                <a:latin typeface="Arial" pitchFamily="34" charset="0"/>
                <a:ea typeface="Arial" pitchFamily="34" charset="-122"/>
                <a:cs typeface="Arial" pitchFamily="34" charset="-120"/>
              </a:rPr>
              <a:t>DELIVERABLE 3 · THE MICROSERVICE</a:t>
            </a:r>
            <a:endParaRPr lang="en-US" sz="1100" dirty="0"/>
          </a:p>
        </p:txBody>
      </p:sp>
      <p:sp>
        <p:nvSpPr>
          <p:cNvPr id="3" name="Text 1"/>
          <p:cNvSpPr/>
          <p:nvPr/>
        </p:nvSpPr>
        <p:spPr>
          <a:xfrm>
            <a:off x="640080" y="777240"/>
            <a:ext cx="10881360" cy="1234440"/>
          </a:xfrm>
          <a:prstGeom prst="rect">
            <a:avLst/>
          </a:prstGeom>
          <a:noFill/>
          <a:ln/>
        </p:spPr>
        <p:txBody>
          <a:bodyPr wrap="square" lIns="0" tIns="0" rIns="0" bIns="0" rtlCol="0" anchor="t"/>
          <a:lstStyle/>
          <a:p>
            <a:pPr indent="0" marL="0">
              <a:buNone/>
            </a:pPr>
            <a:r>
              <a:rPr lang="en-US" sz="3400" b="1" dirty="0">
                <a:solidFill>
                  <a:srgbClr val="0E1420"/>
                </a:solidFill>
                <a:latin typeface="Arial" pitchFamily="34" charset="0"/>
                <a:ea typeface="Arial" pitchFamily="34" charset="-122"/>
                <a:cs typeface="Arial" pitchFamily="34" charset="-120"/>
              </a:rPr>
              <a:t>A nutrition service that does real work</a:t>
            </a:r>
            <a:endParaRPr lang="en-US" sz="3400" dirty="0"/>
          </a:p>
        </p:txBody>
      </p:sp>
      <p:sp>
        <p:nvSpPr>
          <p:cNvPr id="4" name="Text 2"/>
          <p:cNvSpPr/>
          <p:nvPr/>
        </p:nvSpPr>
        <p:spPr>
          <a:xfrm>
            <a:off x="640080" y="2240280"/>
            <a:ext cx="5943600" cy="2743200"/>
          </a:xfrm>
          <a:prstGeom prst="rect">
            <a:avLst/>
          </a:prstGeom>
          <a:noFill/>
          <a:ln/>
        </p:spPr>
        <p:txBody>
          <a:bodyPr wrap="square" lIns="0" tIns="0" rIns="0" bIns="0" rtlCol="0" anchor="t"/>
          <a:lstStyle/>
          <a:p>
            <a:pPr indent="0" marL="0">
              <a:lnSpc>
                <a:spcPct val="135000"/>
              </a:lnSpc>
              <a:spcAft>
                <a:spcPts val="800"/>
              </a:spcAft>
              <a:buNone/>
            </a:pPr>
            <a:r>
              <a:rPr lang="en-US" sz="1350" dirty="0">
                <a:solidFill>
                  <a:srgbClr val="1A2333"/>
                </a:solidFill>
                <a:latin typeface="Calibri" pitchFamily="34" charset="0"/>
                <a:ea typeface="Calibri" pitchFamily="34" charset="-122"/>
                <a:cs typeface="Calibri" pitchFamily="34" charset="-120"/>
              </a:rPr>
              <a:t>It is not a pass-through. Given a member's metrics and the training minutes PulseTrack reports for the last seven days, it derives a calorie target and a macro split:</a:t>
            </a:r>
            <a:endParaRPr lang="en-US" sz="1350" dirty="0"/>
          </a:p>
          <a:p>
            <a:pPr indent="0" marL="0">
              <a:lnSpc>
                <a:spcPct val="135000"/>
              </a:lnSpc>
              <a:spcAft>
                <a:spcPts val="800"/>
              </a:spcAft>
              <a:buNone/>
            </a:pPr>
            <a:endParaRPr lang="en-US" sz="1350" dirty="0"/>
          </a:p>
          <a:p>
            <a:pPr indent="0" marL="0">
              <a:lnSpc>
                <a:spcPct val="135000"/>
              </a:lnSpc>
              <a:spcAft>
                <a:spcPts val="800"/>
              </a:spcAft>
              <a:buNone/>
            </a:pPr>
            <a:r>
              <a:rPr lang="en-US" sz="1350" dirty="0">
                <a:solidFill>
                  <a:srgbClr val="1A2333"/>
                </a:solidFill>
                <a:latin typeface="Calibri" pitchFamily="34" charset="0"/>
                <a:ea typeface="Calibri" pitchFamily="34" charset="-122"/>
                <a:cs typeface="Calibri" pitchFamily="34" charset="-120"/>
              </a:rPr>
              <a:t>  1.  Resting energy from the Mifflin-St Jeor equation</a:t>
            </a:r>
            <a:endParaRPr lang="en-US" sz="1350" dirty="0"/>
          </a:p>
          <a:p>
            <a:pPr indent="0" marL="0">
              <a:lnSpc>
                <a:spcPct val="135000"/>
              </a:lnSpc>
              <a:spcAft>
                <a:spcPts val="800"/>
              </a:spcAft>
              <a:buNone/>
            </a:pPr>
            <a:r>
              <a:rPr lang="en-US" sz="1350" dirty="0">
                <a:solidFill>
                  <a:srgbClr val="1A2333"/>
                </a:solidFill>
                <a:latin typeface="Calibri" pitchFamily="34" charset="0"/>
                <a:ea typeface="Calibri" pitchFamily="34" charset="-122"/>
                <a:cs typeface="Calibri" pitchFamily="34" charset="-120"/>
              </a:rPr>
              <a:t>  2.  Maintenance, scaled by activity and by training volume</a:t>
            </a:r>
            <a:endParaRPr lang="en-US" sz="1350" dirty="0"/>
          </a:p>
          <a:p>
            <a:pPr indent="0" marL="0">
              <a:lnSpc>
                <a:spcPct val="135000"/>
              </a:lnSpc>
              <a:spcAft>
                <a:spcPts val="800"/>
              </a:spcAft>
              <a:buNone/>
            </a:pPr>
            <a:r>
              <a:rPr lang="en-US" sz="1350" dirty="0">
                <a:solidFill>
                  <a:srgbClr val="1A2333"/>
                </a:solidFill>
                <a:latin typeface="Calibri" pitchFamily="34" charset="0"/>
                <a:ea typeface="Calibri" pitchFamily="34" charset="-122"/>
                <a:cs typeface="Calibri" pitchFamily="34" charset="-120"/>
              </a:rPr>
              <a:t>  3.  A goal target, floored at 110% of resting</a:t>
            </a:r>
            <a:endParaRPr lang="en-US" sz="1350" dirty="0"/>
          </a:p>
          <a:p>
            <a:pPr indent="0" marL="0">
              <a:lnSpc>
                <a:spcPct val="135000"/>
              </a:lnSpc>
              <a:spcAft>
                <a:spcPts val="800"/>
              </a:spcAft>
              <a:buNone/>
            </a:pPr>
            <a:r>
              <a:rPr lang="en-US" sz="1350" dirty="0">
                <a:solidFill>
                  <a:srgbClr val="1A2333"/>
                </a:solidFill>
                <a:latin typeface="Calibri" pitchFamily="34" charset="0"/>
                <a:ea typeface="Calibri" pitchFamily="34" charset="-122"/>
                <a:cs typeface="Calibri" pitchFamily="34" charset="-120"/>
              </a:rPr>
              <a:t>  4.  Protein from bodyweight, fat from calorie share, carbs from the remainder</a:t>
            </a:r>
            <a:endParaRPr lang="en-US" sz="1350" dirty="0"/>
          </a:p>
        </p:txBody>
      </p:sp>
      <p:sp>
        <p:nvSpPr>
          <p:cNvPr id="5" name="Shape 3"/>
          <p:cNvSpPr/>
          <p:nvPr/>
        </p:nvSpPr>
        <p:spPr>
          <a:xfrm>
            <a:off x="6903720" y="2240280"/>
            <a:ext cx="4617720" cy="3063240"/>
          </a:xfrm>
          <a:prstGeom prst="roundRect">
            <a:avLst>
              <a:gd name="adj" fmla="val 2388"/>
            </a:avLst>
          </a:prstGeom>
          <a:solidFill>
            <a:srgbClr val="0E1420"/>
          </a:solidFill>
          <a:ln w="12700">
            <a:solidFill>
              <a:srgbClr val="0E1420"/>
            </a:solidFill>
            <a:prstDash val="solid"/>
          </a:ln>
        </p:spPr>
      </p:sp>
      <p:sp>
        <p:nvSpPr>
          <p:cNvPr id="6" name="Text 4"/>
          <p:cNvSpPr/>
          <p:nvPr/>
        </p:nvSpPr>
        <p:spPr>
          <a:xfrm>
            <a:off x="7178040" y="2423160"/>
            <a:ext cx="4114800" cy="292608"/>
          </a:xfrm>
          <a:prstGeom prst="rect">
            <a:avLst/>
          </a:prstGeom>
          <a:noFill/>
          <a:ln/>
        </p:spPr>
        <p:txBody>
          <a:bodyPr wrap="square" lIns="0" tIns="0" rIns="0" bIns="0" rtlCol="0" anchor="ctr"/>
          <a:lstStyle/>
          <a:p>
            <a:pPr indent="0" marL="0">
              <a:buNone/>
            </a:pPr>
            <a:r>
              <a:rPr lang="en-US" sz="1400" b="1" dirty="0">
                <a:solidFill>
                  <a:srgbClr val="C8F24C"/>
                </a:solidFill>
                <a:latin typeface="Arial" pitchFamily="34" charset="0"/>
                <a:ea typeface="Arial" pitchFamily="34" charset="-122"/>
                <a:cs typeface="Arial" pitchFamily="34" charset="-120"/>
              </a:rPr>
              <a:t>/api/meal-plans</a:t>
            </a:r>
            <a:endParaRPr lang="en-US" sz="1400" dirty="0"/>
          </a:p>
        </p:txBody>
      </p:sp>
      <p:sp>
        <p:nvSpPr>
          <p:cNvPr id="7" name="Text 5"/>
          <p:cNvSpPr/>
          <p:nvPr/>
        </p:nvSpPr>
        <p:spPr>
          <a:xfrm>
            <a:off x="7178040" y="2834640"/>
            <a:ext cx="4160520" cy="2194560"/>
          </a:xfrm>
          <a:prstGeom prst="rect">
            <a:avLst/>
          </a:prstGeom>
          <a:noFill/>
          <a:ln/>
        </p:spPr>
        <p:txBody>
          <a:bodyPr wrap="square" lIns="0" tIns="0" rIns="0" bIns="0" rtlCol="0" anchor="ctr"/>
          <a:lstStyle/>
          <a:p>
            <a:pPr indent="0" marL="0">
              <a:lnSpc>
                <a:spcPct val="135000"/>
              </a:lnSpc>
              <a:buNone/>
            </a:pPr>
            <a:r>
              <a:rPr lang="en-US" sz="1050" dirty="0">
                <a:solidFill>
                  <a:srgbClr val="C9CFDA"/>
                </a:solidFill>
                <a:latin typeface="Courier New" pitchFamily="34" charset="0"/>
                <a:ea typeface="Courier New" pitchFamily="34" charset="-122"/>
                <a:cs typeface="Courier New" pitchFamily="34" charset="-120"/>
              </a:rPr>
              <a:t>GET     all plans        200</a:t>
            </a:r>
            <a:endParaRPr lang="en-US" sz="1050" dirty="0"/>
          </a:p>
          <a:p>
            <a:pPr indent="0" marL="0">
              <a:lnSpc>
                <a:spcPct val="135000"/>
              </a:lnSpc>
              <a:buNone/>
            </a:pPr>
            <a:r>
              <a:rPr lang="en-US" sz="1050" dirty="0">
                <a:solidFill>
                  <a:srgbClr val="C9CFDA"/>
                </a:solidFill>
                <a:latin typeface="Courier New" pitchFamily="34" charset="0"/>
                <a:ea typeface="Courier New" pitchFamily="34" charset="-122"/>
                <a:cs typeface="Courier New" pitchFamily="34" charset="-120"/>
              </a:rPr>
              <a:t>GET     /{id}            200 / 404</a:t>
            </a:r>
            <a:endParaRPr lang="en-US" sz="1050" dirty="0"/>
          </a:p>
          <a:p>
            <a:pPr indent="0" marL="0">
              <a:lnSpc>
                <a:spcPct val="135000"/>
              </a:lnSpc>
              <a:buNone/>
            </a:pPr>
            <a:r>
              <a:rPr lang="en-US" sz="1050" dirty="0">
                <a:solidFill>
                  <a:srgbClr val="C9CFDA"/>
                </a:solidFill>
                <a:latin typeface="Courier New" pitchFamily="34" charset="0"/>
                <a:ea typeface="Courier New" pitchFamily="34" charset="-122"/>
                <a:cs typeface="Courier New" pitchFamily="34" charset="-120"/>
              </a:rPr>
              <a:t>POST    create           201 + Location</a:t>
            </a:r>
            <a:endParaRPr lang="en-US" sz="1050" dirty="0"/>
          </a:p>
          <a:p>
            <a:pPr indent="0" marL="0">
              <a:lnSpc>
                <a:spcPct val="135000"/>
              </a:lnSpc>
              <a:buNone/>
            </a:pPr>
            <a:r>
              <a:rPr lang="en-US" sz="1050" dirty="0">
                <a:solidFill>
                  <a:srgbClr val="C9CFDA"/>
                </a:solidFill>
                <a:latin typeface="Courier New" pitchFamily="34" charset="0"/>
                <a:ea typeface="Courier New" pitchFamily="34" charset="-122"/>
                <a:cs typeface="Courier New" pitchFamily="34" charset="-120"/>
              </a:rPr>
              <a:t>PUT     /{id}            200 / 404</a:t>
            </a:r>
            <a:endParaRPr lang="en-US" sz="1050" dirty="0"/>
          </a:p>
          <a:p>
            <a:pPr indent="0" marL="0">
              <a:lnSpc>
                <a:spcPct val="135000"/>
              </a:lnSpc>
              <a:buNone/>
            </a:pPr>
            <a:r>
              <a:rPr lang="en-US" sz="1050" dirty="0">
                <a:solidFill>
                  <a:srgbClr val="C9CFDA"/>
                </a:solidFill>
                <a:latin typeface="Courier New" pitchFamily="34" charset="0"/>
                <a:ea typeface="Courier New" pitchFamily="34" charset="-122"/>
                <a:cs typeface="Courier New" pitchFamily="34" charset="-120"/>
              </a:rPr>
              <a:t>DELETE  /{id}            204 / 404</a:t>
            </a:r>
            <a:endParaRPr lang="en-US" sz="1050" dirty="0"/>
          </a:p>
          <a:p>
            <a:pPr indent="0" marL="0">
              <a:lnSpc>
                <a:spcPct val="135000"/>
              </a:lnSpc>
              <a:buNone/>
            </a:pPr>
            <a:r>
              <a:rPr lang="en-US" sz="1050" dirty="0">
                <a:solidFill>
                  <a:srgbClr val="C9CFDA"/>
                </a:solidFill>
                <a:latin typeface="Courier New" pitchFamily="34" charset="0"/>
                <a:ea typeface="Courier New" pitchFamily="34" charset="-122"/>
                <a:cs typeface="Courier New" pitchFamily="34" charset="-120"/>
              </a:rPr>
              <a:t>GET     /search          multi-param</a:t>
            </a:r>
            <a:endParaRPr lang="en-US" sz="1050" dirty="0"/>
          </a:p>
          <a:p>
            <a:pPr indent="0" marL="0">
              <a:lnSpc>
                <a:spcPct val="135000"/>
              </a:lnSpc>
              <a:buNone/>
            </a:pPr>
            <a:r>
              <a:rPr lang="en-US" sz="1050" dirty="0">
                <a:solidFill>
                  <a:srgbClr val="C9CFDA"/>
                </a:solidFill>
                <a:latin typeface="Courier New" pitchFamily="34" charset="0"/>
                <a:ea typeface="Courier New" pitchFamily="34" charset="-122"/>
                <a:cs typeface="Courier New" pitchFamily="34" charset="-120"/>
              </a:rPr>
              <a:t>GET     /stats           aggregates</a:t>
            </a:r>
            <a:endParaRPr lang="en-US" sz="1050" dirty="0"/>
          </a:p>
        </p:txBody>
      </p:sp>
      <p:sp>
        <p:nvSpPr>
          <p:cNvPr id="8" name="Text 6"/>
          <p:cNvSpPr/>
          <p:nvPr/>
        </p:nvSpPr>
        <p:spPr>
          <a:xfrm>
            <a:off x="640080" y="5486400"/>
            <a:ext cx="10881360" cy="502920"/>
          </a:xfrm>
          <a:prstGeom prst="rect">
            <a:avLst/>
          </a:prstGeom>
          <a:noFill/>
          <a:ln/>
        </p:spPr>
        <p:txBody>
          <a:bodyPr wrap="square" lIns="0" tIns="0" rIns="0" bIns="0" rtlCol="0" anchor="ctr"/>
          <a:lstStyle/>
          <a:p>
            <a:pPr indent="0" marL="0">
              <a:lnSpc>
                <a:spcPct val="120000"/>
              </a:lnSpc>
              <a:buNone/>
            </a:pPr>
            <a:r>
              <a:rPr lang="en-US" sz="1250" i="1" dirty="0">
                <a:solidFill>
                  <a:srgbClr val="64748B"/>
                </a:solidFill>
                <a:latin typeface="Calibri" pitchFamily="34" charset="0"/>
                <a:ea typeface="Calibri" pitchFamily="34" charset="-122"/>
                <a:cs typeface="Calibri" pitchFamily="34" charset="-120"/>
              </a:rPr>
              <a:t>Protected by HTTP Basic, with its own accounts configured in YAML — completely independent of PulseTrack's user table.</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E1420"/>
        </a:solidFill>
      </p:bgPr>
    </p:bg>
    <p:spTree>
      <p:nvGrpSpPr>
        <p:cNvPr id="1" name=""/>
        <p:cNvGrpSpPr/>
        <p:nvPr/>
      </p:nvGrpSpPr>
      <p:grpSpPr>
        <a:xfrm>
          <a:off x="0" y="0"/>
          <a:ext cx="0" cy="0"/>
          <a:chOff x="0" y="0"/>
          <a:chExt cx="0" cy="0"/>
        </a:xfrm>
      </p:grpSpPr>
      <p:sp>
        <p:nvSpPr>
          <p:cNvPr id="2" name="Text 0"/>
          <p:cNvSpPr/>
          <p:nvPr/>
        </p:nvSpPr>
        <p:spPr>
          <a:xfrm>
            <a:off x="640080" y="1371600"/>
            <a:ext cx="10058400" cy="274320"/>
          </a:xfrm>
          <a:prstGeom prst="rect">
            <a:avLst/>
          </a:prstGeom>
          <a:noFill/>
          <a:ln/>
        </p:spPr>
        <p:txBody>
          <a:bodyPr wrap="square" lIns="0" tIns="0" rIns="0" bIns="0" rtlCol="0" anchor="ctr"/>
          <a:lstStyle/>
          <a:p>
            <a:pPr indent="0" marL="0">
              <a:buNone/>
            </a:pPr>
            <a:r>
              <a:rPr lang="en-US" sz="1100" b="1" spc="200" kern="0" dirty="0">
                <a:solidFill>
                  <a:srgbClr val="FF5A3C"/>
                </a:solidFill>
                <a:latin typeface="Arial" pitchFamily="34" charset="0"/>
                <a:ea typeface="Arial" pitchFamily="34" charset="-122"/>
                <a:cs typeface="Arial" pitchFamily="34" charset="-120"/>
              </a:rPr>
              <a:t>THE DEMONSTRATION THAT MATTERS</a:t>
            </a:r>
            <a:endParaRPr lang="en-US" sz="1100" dirty="0"/>
          </a:p>
        </p:txBody>
      </p:sp>
      <p:sp>
        <p:nvSpPr>
          <p:cNvPr id="3" name="Text 1"/>
          <p:cNvSpPr/>
          <p:nvPr/>
        </p:nvSpPr>
        <p:spPr>
          <a:xfrm>
            <a:off x="640080" y="1874520"/>
            <a:ext cx="10515600" cy="1554480"/>
          </a:xfrm>
          <a:prstGeom prst="rect">
            <a:avLst/>
          </a:prstGeom>
          <a:noFill/>
          <a:ln/>
        </p:spPr>
        <p:txBody>
          <a:bodyPr wrap="square" lIns="0" tIns="0" rIns="0" bIns="0" rtlCol="0" anchor="ctr"/>
          <a:lstStyle/>
          <a:p>
            <a:pPr indent="0" marL="0">
              <a:lnSpc>
                <a:spcPct val="110000"/>
              </a:lnSpc>
              <a:buNone/>
            </a:pPr>
            <a:r>
              <a:rPr lang="en-US" sz="4000" b="1" dirty="0">
                <a:solidFill>
                  <a:srgbClr val="FFFFFF"/>
                </a:solidFill>
                <a:latin typeface="Arial" pitchFamily="34" charset="0"/>
                <a:ea typeface="Arial" pitchFamily="34" charset="-122"/>
                <a:cs typeface="Arial" pitchFamily="34" charset="-120"/>
              </a:rPr>
              <a:t>We kill the nutrition service</a:t>
            </a:r>
            <a:endParaRPr lang="en-US" sz="4000" dirty="0"/>
          </a:p>
          <a:p>
            <a:pPr indent="0" marL="0">
              <a:lnSpc>
                <a:spcPct val="110000"/>
              </a:lnSpc>
              <a:buNone/>
            </a:pPr>
            <a:r>
              <a:rPr lang="en-US" sz="4000" b="1" dirty="0">
                <a:solidFill>
                  <a:srgbClr val="FFFFFF"/>
                </a:solidFill>
                <a:latin typeface="Arial" pitchFamily="34" charset="0"/>
                <a:ea typeface="Arial" pitchFamily="34" charset="-122"/>
                <a:cs typeface="Arial" pitchFamily="34" charset="-120"/>
              </a:rPr>
              <a:t>while the app is running.</a:t>
            </a:r>
            <a:endParaRPr lang="en-US" sz="4000" dirty="0"/>
          </a:p>
        </p:txBody>
      </p:sp>
      <p:sp>
        <p:nvSpPr>
          <p:cNvPr id="4" name="Text 2"/>
          <p:cNvSpPr/>
          <p:nvPr/>
        </p:nvSpPr>
        <p:spPr>
          <a:xfrm>
            <a:off x="640080" y="3657600"/>
            <a:ext cx="7863840" cy="914400"/>
          </a:xfrm>
          <a:prstGeom prst="rect">
            <a:avLst/>
          </a:prstGeom>
          <a:noFill/>
          <a:ln/>
        </p:spPr>
        <p:txBody>
          <a:bodyPr wrap="square" lIns="0" tIns="0" rIns="0" bIns="0" rtlCol="0" anchor="ctr"/>
          <a:lstStyle/>
          <a:p>
            <a:pPr indent="0" marL="0">
              <a:lnSpc>
                <a:spcPct val="130000"/>
              </a:lnSpc>
              <a:buNone/>
            </a:pPr>
            <a:r>
              <a:rPr lang="en-US" sz="1600" dirty="0">
                <a:solidFill>
                  <a:srgbClr val="C9CFDA"/>
                </a:solidFill>
                <a:latin typeface="Calibri" pitchFamily="34" charset="0"/>
                <a:ea typeface="Calibri" pitchFamily="34" charset="-122"/>
                <a:cs typeface="Calibri" pitchFamily="34" charset="-120"/>
              </a:rPr>
              <a:t>The nutrition pages show a warning banner naming the endpoint and how to restart it. Every other page in PulseTrack keeps returning 200. Nothing crashes, and no user sees a stack trace.</a:t>
            </a:r>
            <a:endParaRPr lang="en-US" sz="1600" dirty="0"/>
          </a:p>
        </p:txBody>
      </p:sp>
      <p:sp>
        <p:nvSpPr>
          <p:cNvPr id="5" name="Shape 3"/>
          <p:cNvSpPr/>
          <p:nvPr/>
        </p:nvSpPr>
        <p:spPr>
          <a:xfrm>
            <a:off x="640080" y="4800600"/>
            <a:ext cx="3291840" cy="1234440"/>
          </a:xfrm>
          <a:prstGeom prst="roundRect">
            <a:avLst>
              <a:gd name="adj" fmla="val 5926"/>
            </a:avLst>
          </a:prstGeom>
          <a:solidFill>
            <a:srgbClr val="1A2333"/>
          </a:solidFill>
          <a:ln w="12700">
            <a:solidFill>
              <a:srgbClr val="2A3547"/>
            </a:solidFill>
            <a:prstDash val="solid"/>
          </a:ln>
        </p:spPr>
      </p:sp>
      <p:sp>
        <p:nvSpPr>
          <p:cNvPr id="6" name="Text 4"/>
          <p:cNvSpPr/>
          <p:nvPr/>
        </p:nvSpPr>
        <p:spPr>
          <a:xfrm>
            <a:off x="841248" y="4965192"/>
            <a:ext cx="2889504" cy="566928"/>
          </a:xfrm>
          <a:prstGeom prst="rect">
            <a:avLst/>
          </a:prstGeom>
          <a:noFill/>
          <a:ln/>
        </p:spPr>
        <p:txBody>
          <a:bodyPr wrap="square" lIns="0" tIns="0" rIns="0" bIns="0" rtlCol="0" anchor="t"/>
          <a:lstStyle/>
          <a:p>
            <a:pPr indent="0" marL="0">
              <a:buNone/>
            </a:pPr>
            <a:r>
              <a:rPr lang="en-US" sz="3000" b="1" dirty="0">
                <a:solidFill>
                  <a:srgbClr val="C8F24C"/>
                </a:solidFill>
                <a:latin typeface="Arial" pitchFamily="34" charset="0"/>
                <a:ea typeface="Arial" pitchFamily="34" charset="-122"/>
                <a:cs typeface="Arial" pitchFamily="34" charset="-120"/>
              </a:rPr>
              <a:t>2s / 4s</a:t>
            </a:r>
            <a:endParaRPr lang="en-US" sz="3000" dirty="0"/>
          </a:p>
        </p:txBody>
      </p:sp>
      <p:sp>
        <p:nvSpPr>
          <p:cNvPr id="7" name="Text 5"/>
          <p:cNvSpPr/>
          <p:nvPr/>
        </p:nvSpPr>
        <p:spPr>
          <a:xfrm>
            <a:off x="841248" y="5550408"/>
            <a:ext cx="2889504" cy="320040"/>
          </a:xfrm>
          <a:prstGeom prst="rect">
            <a:avLst/>
          </a:prstGeom>
          <a:noFill/>
          <a:ln/>
        </p:spPr>
        <p:txBody>
          <a:bodyPr wrap="square" lIns="0" tIns="0" rIns="0" bIns="0" rtlCol="0" anchor="t"/>
          <a:lstStyle/>
          <a:p>
            <a:pPr indent="0" marL="0">
              <a:buNone/>
            </a:pPr>
            <a:r>
              <a:rPr lang="en-US" sz="1000" b="1" spc="100" kern="0" dirty="0">
                <a:solidFill>
                  <a:srgbClr val="8A93A3"/>
                </a:solidFill>
                <a:latin typeface="Calibri" pitchFamily="34" charset="0"/>
                <a:ea typeface="Calibri" pitchFamily="34" charset="-122"/>
                <a:cs typeface="Calibri" pitchFamily="34" charset="-120"/>
              </a:rPr>
              <a:t>CONNECT / READ TIMEOUT</a:t>
            </a:r>
            <a:endParaRPr lang="en-US" sz="1000" dirty="0"/>
          </a:p>
        </p:txBody>
      </p:sp>
      <p:sp>
        <p:nvSpPr>
          <p:cNvPr id="8" name="Shape 6"/>
          <p:cNvSpPr/>
          <p:nvPr/>
        </p:nvSpPr>
        <p:spPr>
          <a:xfrm>
            <a:off x="4206240" y="4800600"/>
            <a:ext cx="3291840" cy="1234440"/>
          </a:xfrm>
          <a:prstGeom prst="roundRect">
            <a:avLst>
              <a:gd name="adj" fmla="val 5926"/>
            </a:avLst>
          </a:prstGeom>
          <a:solidFill>
            <a:srgbClr val="1A2333"/>
          </a:solidFill>
          <a:ln w="12700">
            <a:solidFill>
              <a:srgbClr val="2A3547"/>
            </a:solidFill>
            <a:prstDash val="solid"/>
          </a:ln>
        </p:spPr>
      </p:sp>
      <p:sp>
        <p:nvSpPr>
          <p:cNvPr id="9" name="Text 7"/>
          <p:cNvSpPr/>
          <p:nvPr/>
        </p:nvSpPr>
        <p:spPr>
          <a:xfrm>
            <a:off x="4407408" y="4965192"/>
            <a:ext cx="2889504" cy="566928"/>
          </a:xfrm>
          <a:prstGeom prst="rect">
            <a:avLst/>
          </a:prstGeom>
          <a:noFill/>
          <a:ln/>
        </p:spPr>
        <p:txBody>
          <a:bodyPr wrap="square" lIns="0" tIns="0" rIns="0" bIns="0" rtlCol="0" anchor="t"/>
          <a:lstStyle/>
          <a:p>
            <a:pPr indent="0" marL="0">
              <a:buNone/>
            </a:pPr>
            <a:r>
              <a:rPr lang="en-US" sz="3000" b="1" dirty="0">
                <a:solidFill>
                  <a:srgbClr val="C8F24C"/>
                </a:solidFill>
                <a:latin typeface="Arial" pitchFamily="34" charset="0"/>
                <a:ea typeface="Arial" pitchFamily="34" charset="-122"/>
                <a:cs typeface="Arial" pitchFamily="34" charset="-120"/>
              </a:rPr>
              <a:t>1</a:t>
            </a:r>
            <a:endParaRPr lang="en-US" sz="3000" dirty="0"/>
          </a:p>
        </p:txBody>
      </p:sp>
      <p:sp>
        <p:nvSpPr>
          <p:cNvPr id="10" name="Text 8"/>
          <p:cNvSpPr/>
          <p:nvPr/>
        </p:nvSpPr>
        <p:spPr>
          <a:xfrm>
            <a:off x="4407408" y="5550408"/>
            <a:ext cx="2889504" cy="320040"/>
          </a:xfrm>
          <a:prstGeom prst="rect">
            <a:avLst/>
          </a:prstGeom>
          <a:noFill/>
          <a:ln/>
        </p:spPr>
        <p:txBody>
          <a:bodyPr wrap="square" lIns="0" tIns="0" rIns="0" bIns="0" rtlCol="0" anchor="t"/>
          <a:lstStyle/>
          <a:p>
            <a:pPr indent="0" marL="0">
              <a:buNone/>
            </a:pPr>
            <a:r>
              <a:rPr lang="en-US" sz="1000" b="1" spc="100" kern="0" dirty="0">
                <a:solidFill>
                  <a:srgbClr val="8A93A3"/>
                </a:solidFill>
                <a:latin typeface="Calibri" pitchFamily="34" charset="0"/>
                <a:ea typeface="Calibri" pitchFamily="34" charset="-122"/>
                <a:cs typeface="Calibri" pitchFamily="34" charset="-120"/>
              </a:rPr>
              <a:t>SHARED ERROR FUNNEL</a:t>
            </a:r>
            <a:endParaRPr lang="en-US" sz="1000" dirty="0"/>
          </a:p>
        </p:txBody>
      </p:sp>
      <p:sp>
        <p:nvSpPr>
          <p:cNvPr id="11" name="Shape 9"/>
          <p:cNvSpPr/>
          <p:nvPr/>
        </p:nvSpPr>
        <p:spPr>
          <a:xfrm>
            <a:off x="7772400" y="4800600"/>
            <a:ext cx="3749040" cy="1234440"/>
          </a:xfrm>
          <a:prstGeom prst="roundRect">
            <a:avLst>
              <a:gd name="adj" fmla="val 5926"/>
            </a:avLst>
          </a:prstGeom>
          <a:solidFill>
            <a:srgbClr val="1A2333"/>
          </a:solidFill>
          <a:ln w="12700">
            <a:solidFill>
              <a:srgbClr val="2A3547"/>
            </a:solidFill>
            <a:prstDash val="solid"/>
          </a:ln>
        </p:spPr>
      </p:sp>
      <p:sp>
        <p:nvSpPr>
          <p:cNvPr id="12" name="Text 10"/>
          <p:cNvSpPr/>
          <p:nvPr/>
        </p:nvSpPr>
        <p:spPr>
          <a:xfrm>
            <a:off x="7973568" y="4965192"/>
            <a:ext cx="3346704" cy="566928"/>
          </a:xfrm>
          <a:prstGeom prst="rect">
            <a:avLst/>
          </a:prstGeom>
          <a:noFill/>
          <a:ln/>
        </p:spPr>
        <p:txBody>
          <a:bodyPr wrap="square" lIns="0" tIns="0" rIns="0" bIns="0" rtlCol="0" anchor="t"/>
          <a:lstStyle/>
          <a:p>
            <a:pPr indent="0" marL="0">
              <a:buNone/>
            </a:pPr>
            <a:r>
              <a:rPr lang="en-US" sz="3000" b="1" dirty="0">
                <a:solidFill>
                  <a:srgbClr val="C8F24C"/>
                </a:solidFill>
                <a:latin typeface="Arial" pitchFamily="34" charset="0"/>
                <a:ea typeface="Arial" pitchFamily="34" charset="-122"/>
                <a:cs typeface="Arial" pitchFamily="34" charset="-120"/>
              </a:rPr>
              <a:t>6</a:t>
            </a:r>
            <a:endParaRPr lang="en-US" sz="3000" dirty="0"/>
          </a:p>
        </p:txBody>
      </p:sp>
      <p:sp>
        <p:nvSpPr>
          <p:cNvPr id="13" name="Text 11"/>
          <p:cNvSpPr/>
          <p:nvPr/>
        </p:nvSpPr>
        <p:spPr>
          <a:xfrm>
            <a:off x="7973568" y="5550408"/>
            <a:ext cx="3346704" cy="320040"/>
          </a:xfrm>
          <a:prstGeom prst="rect">
            <a:avLst/>
          </a:prstGeom>
          <a:noFill/>
          <a:ln/>
        </p:spPr>
        <p:txBody>
          <a:bodyPr wrap="square" lIns="0" tIns="0" rIns="0" bIns="0" rtlCol="0" anchor="t"/>
          <a:lstStyle/>
          <a:p>
            <a:pPr indent="0" marL="0">
              <a:buNone/>
            </a:pPr>
            <a:r>
              <a:rPr lang="en-US" sz="1000" b="1" spc="100" kern="0" dirty="0">
                <a:solidFill>
                  <a:srgbClr val="8A93A3"/>
                </a:solidFill>
                <a:latin typeface="Calibri" pitchFamily="34" charset="0"/>
                <a:ea typeface="Calibri" pitchFamily="34" charset="-122"/>
                <a:cs typeface="Calibri" pitchFamily="34" charset="-120"/>
              </a:rPr>
              <a:t>FAILURE MODES UNDER TEST</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7315200" cy="274320"/>
          </a:xfrm>
          <a:prstGeom prst="rect">
            <a:avLst/>
          </a:prstGeom>
          <a:noFill/>
          <a:ln/>
        </p:spPr>
        <p:txBody>
          <a:bodyPr wrap="square" lIns="0" tIns="0" rIns="0" bIns="0" rtlCol="0" anchor="ctr"/>
          <a:lstStyle/>
          <a:p>
            <a:pPr indent="0" marL="0">
              <a:buNone/>
            </a:pPr>
            <a:r>
              <a:rPr lang="en-US" sz="1100" b="1" spc="200" kern="0" dirty="0">
                <a:solidFill>
                  <a:srgbClr val="FF5A3C"/>
                </a:solidFill>
                <a:latin typeface="Arial" pitchFamily="34" charset="0"/>
                <a:ea typeface="Arial" pitchFamily="34" charset="-122"/>
                <a:cs typeface="Arial" pitchFamily="34" charset="-120"/>
              </a:rPr>
              <a:t>DEVOPS AND QUALITY</a:t>
            </a:r>
            <a:endParaRPr lang="en-US" sz="1100" dirty="0"/>
          </a:p>
        </p:txBody>
      </p:sp>
      <p:sp>
        <p:nvSpPr>
          <p:cNvPr id="3" name="Text 1"/>
          <p:cNvSpPr/>
          <p:nvPr/>
        </p:nvSpPr>
        <p:spPr>
          <a:xfrm>
            <a:off x="640080" y="777240"/>
            <a:ext cx="10881360" cy="1234440"/>
          </a:xfrm>
          <a:prstGeom prst="rect">
            <a:avLst/>
          </a:prstGeom>
          <a:noFill/>
          <a:ln/>
        </p:spPr>
        <p:txBody>
          <a:bodyPr wrap="square" lIns="0" tIns="0" rIns="0" bIns="0" rtlCol="0" anchor="t"/>
          <a:lstStyle/>
          <a:p>
            <a:pPr indent="0" marL="0">
              <a:buNone/>
            </a:pPr>
            <a:r>
              <a:rPr lang="en-US" sz="3400" b="1" dirty="0">
                <a:solidFill>
                  <a:srgbClr val="0E1420"/>
                </a:solidFill>
                <a:latin typeface="Arial" pitchFamily="34" charset="0"/>
                <a:ea typeface="Arial" pitchFamily="34" charset="-122"/>
                <a:cs typeface="Arial" pitchFamily="34" charset="-120"/>
              </a:rPr>
              <a:t>Reproducible for anyone who clones it</a:t>
            </a:r>
            <a:endParaRPr lang="en-US" sz="3400" dirty="0"/>
          </a:p>
        </p:txBody>
      </p:sp>
      <p:sp>
        <p:nvSpPr>
          <p:cNvPr id="4" name="Shape 2"/>
          <p:cNvSpPr/>
          <p:nvPr/>
        </p:nvSpPr>
        <p:spPr>
          <a:xfrm>
            <a:off x="640080" y="2286000"/>
            <a:ext cx="420624" cy="420624"/>
          </a:xfrm>
          <a:prstGeom prst="ellipse">
            <a:avLst/>
          </a:prstGeom>
          <a:solidFill>
            <a:srgbClr val="FF5A3C"/>
          </a:solidFill>
          <a:ln/>
        </p:spPr>
      </p:sp>
      <p:sp>
        <p:nvSpPr>
          <p:cNvPr id="5" name="Text 3"/>
          <p:cNvSpPr/>
          <p:nvPr/>
        </p:nvSpPr>
        <p:spPr>
          <a:xfrm>
            <a:off x="640080" y="2336292"/>
            <a:ext cx="420624" cy="329184"/>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6" name="Text 4"/>
          <p:cNvSpPr/>
          <p:nvPr/>
        </p:nvSpPr>
        <p:spPr>
          <a:xfrm>
            <a:off x="1261872" y="2267712"/>
            <a:ext cx="4590288" cy="310896"/>
          </a:xfrm>
          <a:prstGeom prst="rect">
            <a:avLst/>
          </a:prstGeom>
          <a:noFill/>
          <a:ln/>
        </p:spPr>
        <p:txBody>
          <a:bodyPr wrap="square" lIns="0" tIns="0" rIns="0" bIns="0" rtlCol="0" anchor="t"/>
          <a:lstStyle/>
          <a:p>
            <a:pPr indent="0" marL="0">
              <a:buNone/>
            </a:pPr>
            <a:r>
              <a:rPr lang="en-US" sz="1600" b="1" dirty="0">
                <a:solidFill>
                  <a:srgbClr val="0E1420"/>
                </a:solidFill>
                <a:latin typeface="Arial" pitchFamily="34" charset="0"/>
                <a:ea typeface="Arial" pitchFamily="34" charset="-122"/>
                <a:cs typeface="Arial" pitchFamily="34" charset="-120"/>
              </a:rPr>
              <a:t>Docker Compose</a:t>
            </a:r>
            <a:endParaRPr lang="en-US" sz="1600" dirty="0"/>
          </a:p>
        </p:txBody>
      </p:sp>
      <p:sp>
        <p:nvSpPr>
          <p:cNvPr id="7" name="Text 5"/>
          <p:cNvSpPr/>
          <p:nvPr/>
        </p:nvSpPr>
        <p:spPr>
          <a:xfrm>
            <a:off x="1261872" y="2596896"/>
            <a:ext cx="4590288" cy="685800"/>
          </a:xfrm>
          <a:prstGeom prst="rect">
            <a:avLst/>
          </a:prstGeom>
          <a:noFill/>
          <a:ln/>
        </p:spPr>
        <p:txBody>
          <a:bodyPr wrap="square" lIns="0" tIns="0" rIns="0" bIns="0" rtlCol="0" anchor="t"/>
          <a:lstStyle/>
          <a:p>
            <a:pPr indent="0" marL="0">
              <a:buNone/>
            </a:pPr>
            <a:r>
              <a:rPr lang="en-US" sz="1300" dirty="0">
                <a:solidFill>
                  <a:srgbClr val="64748B"/>
                </a:solidFill>
                <a:latin typeface="Calibri" pitchFamily="34" charset="0"/>
                <a:ea typeface="Calibri" pitchFamily="34" charset="-122"/>
                <a:cs typeface="Calibri" pitchFamily="34" charset="-120"/>
              </a:rPr>
              <a:t>MySQL 8.4 for the prod profile, PostgreSQL 16 for the QA profile, and Adminer to browse either. Both declare health checks, so "up" means genuinely ready.</a:t>
            </a:r>
            <a:endParaRPr lang="en-US" sz="1300" dirty="0"/>
          </a:p>
        </p:txBody>
      </p:sp>
      <p:sp>
        <p:nvSpPr>
          <p:cNvPr id="8" name="Shape 6"/>
          <p:cNvSpPr/>
          <p:nvPr/>
        </p:nvSpPr>
        <p:spPr>
          <a:xfrm>
            <a:off x="640080" y="3886200"/>
            <a:ext cx="420624" cy="420624"/>
          </a:xfrm>
          <a:prstGeom prst="ellipse">
            <a:avLst/>
          </a:prstGeom>
          <a:solidFill>
            <a:srgbClr val="0E1420"/>
          </a:solidFill>
          <a:ln/>
        </p:spPr>
      </p:sp>
      <p:sp>
        <p:nvSpPr>
          <p:cNvPr id="9" name="Text 7"/>
          <p:cNvSpPr/>
          <p:nvPr/>
        </p:nvSpPr>
        <p:spPr>
          <a:xfrm>
            <a:off x="640080" y="3936492"/>
            <a:ext cx="420624" cy="329184"/>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0" name="Text 8"/>
          <p:cNvSpPr/>
          <p:nvPr/>
        </p:nvSpPr>
        <p:spPr>
          <a:xfrm>
            <a:off x="1261872" y="3867912"/>
            <a:ext cx="4590288" cy="310896"/>
          </a:xfrm>
          <a:prstGeom prst="rect">
            <a:avLst/>
          </a:prstGeom>
          <a:noFill/>
          <a:ln/>
        </p:spPr>
        <p:txBody>
          <a:bodyPr wrap="square" lIns="0" tIns="0" rIns="0" bIns="0" rtlCol="0" anchor="t"/>
          <a:lstStyle/>
          <a:p>
            <a:pPr indent="0" marL="0">
              <a:buNone/>
            </a:pPr>
            <a:r>
              <a:rPr lang="en-US" sz="1600" b="1" dirty="0">
                <a:solidFill>
                  <a:srgbClr val="0E1420"/>
                </a:solidFill>
                <a:latin typeface="Arial" pitchFamily="34" charset="0"/>
                <a:ea typeface="Arial" pitchFamily="34" charset="-122"/>
                <a:cs typeface="Arial" pitchFamily="34" charset="-120"/>
              </a:rPr>
              <a:t>Reset in one command</a:t>
            </a:r>
            <a:endParaRPr lang="en-US" sz="1600" dirty="0"/>
          </a:p>
        </p:txBody>
      </p:sp>
      <p:sp>
        <p:nvSpPr>
          <p:cNvPr id="11" name="Text 9"/>
          <p:cNvSpPr/>
          <p:nvPr/>
        </p:nvSpPr>
        <p:spPr>
          <a:xfrm>
            <a:off x="1261872" y="4197096"/>
            <a:ext cx="4590288" cy="685800"/>
          </a:xfrm>
          <a:prstGeom prst="rect">
            <a:avLst/>
          </a:prstGeom>
          <a:noFill/>
          <a:ln/>
        </p:spPr>
        <p:txBody>
          <a:bodyPr wrap="square" lIns="0" tIns="0" rIns="0" bIns="0" rtlCol="0" anchor="t"/>
          <a:lstStyle/>
          <a:p>
            <a:pPr indent="0" marL="0">
              <a:buNone/>
            </a:pPr>
            <a:r>
              <a:rPr lang="en-US" sz="1300" dirty="0">
                <a:solidFill>
                  <a:srgbClr val="64748B"/>
                </a:solidFill>
                <a:latin typeface="Calibri" pitchFamily="34" charset="0"/>
                <a:ea typeface="Calibri" pitchFamily="34" charset="-122"/>
                <a:cs typeface="Calibri" pitchFamily="34" charset="-120"/>
              </a:rPr>
              <a:t>docker compose down -v wipes the databases to a known state - which is how we rehearse the profile demonstration repeatably.</a:t>
            </a:r>
            <a:endParaRPr lang="en-US" sz="1300" dirty="0"/>
          </a:p>
        </p:txBody>
      </p:sp>
      <p:sp>
        <p:nvSpPr>
          <p:cNvPr id="12" name="Shape 10"/>
          <p:cNvSpPr/>
          <p:nvPr/>
        </p:nvSpPr>
        <p:spPr>
          <a:xfrm>
            <a:off x="6400800" y="2286000"/>
            <a:ext cx="420624" cy="420624"/>
          </a:xfrm>
          <a:prstGeom prst="ellipse">
            <a:avLst/>
          </a:prstGeom>
          <a:solidFill>
            <a:srgbClr val="0E1420"/>
          </a:solidFill>
          <a:ln/>
        </p:spPr>
      </p:sp>
      <p:sp>
        <p:nvSpPr>
          <p:cNvPr id="13" name="Text 11"/>
          <p:cNvSpPr/>
          <p:nvPr/>
        </p:nvSpPr>
        <p:spPr>
          <a:xfrm>
            <a:off x="6400800" y="2336292"/>
            <a:ext cx="420624" cy="329184"/>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14" name="Text 12"/>
          <p:cNvSpPr/>
          <p:nvPr/>
        </p:nvSpPr>
        <p:spPr>
          <a:xfrm>
            <a:off x="7022592" y="2267712"/>
            <a:ext cx="4498848" cy="310896"/>
          </a:xfrm>
          <a:prstGeom prst="rect">
            <a:avLst/>
          </a:prstGeom>
          <a:noFill/>
          <a:ln/>
        </p:spPr>
        <p:txBody>
          <a:bodyPr wrap="square" lIns="0" tIns="0" rIns="0" bIns="0" rtlCol="0" anchor="t"/>
          <a:lstStyle/>
          <a:p>
            <a:pPr indent="0" marL="0">
              <a:buNone/>
            </a:pPr>
            <a:r>
              <a:rPr lang="en-US" sz="1600" b="1" dirty="0">
                <a:solidFill>
                  <a:srgbClr val="0E1420"/>
                </a:solidFill>
                <a:latin typeface="Arial" pitchFamily="34" charset="0"/>
                <a:ea typeface="Arial" pitchFamily="34" charset="-122"/>
                <a:cs typeface="Arial" pitchFamily="34" charset="-120"/>
              </a:rPr>
              <a:t>71 automated tests</a:t>
            </a:r>
            <a:endParaRPr lang="en-US" sz="1600" dirty="0"/>
          </a:p>
        </p:txBody>
      </p:sp>
      <p:sp>
        <p:nvSpPr>
          <p:cNvPr id="15" name="Text 13"/>
          <p:cNvSpPr/>
          <p:nvPr/>
        </p:nvSpPr>
        <p:spPr>
          <a:xfrm>
            <a:off x="7022592" y="2596896"/>
            <a:ext cx="4498848" cy="685800"/>
          </a:xfrm>
          <a:prstGeom prst="rect">
            <a:avLst/>
          </a:prstGeom>
          <a:noFill/>
          <a:ln/>
        </p:spPr>
        <p:txBody>
          <a:bodyPr wrap="square" lIns="0" tIns="0" rIns="0" bIns="0" rtlCol="0" anchor="t"/>
          <a:lstStyle/>
          <a:p>
            <a:pPr indent="0" marL="0">
              <a:buNone/>
            </a:pPr>
            <a:r>
              <a:rPr lang="en-US" sz="1300" dirty="0">
                <a:solidFill>
                  <a:srgbClr val="64748B"/>
                </a:solidFill>
                <a:latin typeface="Calibri" pitchFamily="34" charset="0"/>
                <a:ea typeface="Calibri" pitchFamily="34" charset="-122"/>
                <a:cs typeface="Calibri" pitchFamily="34" charset="-120"/>
              </a:rPr>
              <a:t>41 on the web app: validation, ownership, role protection, paging, BCrypt. 30 on the service: the arithmetic against reference values, and the full API contract.</a:t>
            </a:r>
            <a:endParaRPr lang="en-US" sz="1300" dirty="0"/>
          </a:p>
        </p:txBody>
      </p:sp>
      <p:sp>
        <p:nvSpPr>
          <p:cNvPr id="16" name="Shape 14"/>
          <p:cNvSpPr/>
          <p:nvPr/>
        </p:nvSpPr>
        <p:spPr>
          <a:xfrm>
            <a:off x="6400800" y="3886200"/>
            <a:ext cx="420624" cy="420624"/>
          </a:xfrm>
          <a:prstGeom prst="ellipse">
            <a:avLst/>
          </a:prstGeom>
          <a:solidFill>
            <a:srgbClr val="16A34A"/>
          </a:solidFill>
          <a:ln/>
        </p:spPr>
      </p:sp>
      <p:sp>
        <p:nvSpPr>
          <p:cNvPr id="17" name="Text 15"/>
          <p:cNvSpPr/>
          <p:nvPr/>
        </p:nvSpPr>
        <p:spPr>
          <a:xfrm>
            <a:off x="6400800" y="3936492"/>
            <a:ext cx="420624" cy="329184"/>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4</a:t>
            </a:r>
            <a:endParaRPr lang="en-US" sz="1500" dirty="0"/>
          </a:p>
        </p:txBody>
      </p:sp>
      <p:sp>
        <p:nvSpPr>
          <p:cNvPr id="18" name="Text 16"/>
          <p:cNvSpPr/>
          <p:nvPr/>
        </p:nvSpPr>
        <p:spPr>
          <a:xfrm>
            <a:off x="7022592" y="3867912"/>
            <a:ext cx="4498848" cy="310896"/>
          </a:xfrm>
          <a:prstGeom prst="rect">
            <a:avLst/>
          </a:prstGeom>
          <a:noFill/>
          <a:ln/>
        </p:spPr>
        <p:txBody>
          <a:bodyPr wrap="square" lIns="0" tIns="0" rIns="0" bIns="0" rtlCol="0" anchor="t"/>
          <a:lstStyle/>
          <a:p>
            <a:pPr indent="0" marL="0">
              <a:buNone/>
            </a:pPr>
            <a:r>
              <a:rPr lang="en-US" sz="1600" b="1" dirty="0">
                <a:solidFill>
                  <a:srgbClr val="0E1420"/>
                </a:solidFill>
                <a:latin typeface="Arial" pitchFamily="34" charset="0"/>
                <a:ea typeface="Arial" pitchFamily="34" charset="-122"/>
                <a:cs typeface="Arial" pitchFamily="34" charset="-120"/>
              </a:rPr>
              <a:t>Documentation</a:t>
            </a:r>
            <a:endParaRPr lang="en-US" sz="1600" dirty="0"/>
          </a:p>
        </p:txBody>
      </p:sp>
      <p:sp>
        <p:nvSpPr>
          <p:cNvPr id="19" name="Text 17"/>
          <p:cNvSpPr/>
          <p:nvPr/>
        </p:nvSpPr>
        <p:spPr>
          <a:xfrm>
            <a:off x="7022592" y="4197096"/>
            <a:ext cx="4498848" cy="685800"/>
          </a:xfrm>
          <a:prstGeom prst="rect">
            <a:avLst/>
          </a:prstGeom>
          <a:noFill/>
          <a:ln/>
        </p:spPr>
        <p:txBody>
          <a:bodyPr wrap="square" lIns="0" tIns="0" rIns="0" bIns="0" rtlCol="0" anchor="t"/>
          <a:lstStyle/>
          <a:p>
            <a:pPr indent="0" marL="0">
              <a:buNone/>
            </a:pPr>
            <a:r>
              <a:rPr lang="en-US" sz="1300" dirty="0">
                <a:solidFill>
                  <a:srgbClr val="64748B"/>
                </a:solidFill>
                <a:latin typeface="Calibri" pitchFamily="34" charset="0"/>
                <a:ea typeface="Calibri" pitchFamily="34" charset="-122"/>
                <a:cs typeface="Calibri" pitchFamily="34" charset="-120"/>
              </a:rPr>
              <a:t>A README covering every profile, environment variable and Docker command, plus a full REST API reference.</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E1420"/>
        </a:solidFill>
      </p:bgPr>
    </p:bg>
    <p:spTree>
      <p:nvGrpSpPr>
        <p:cNvPr id="1" name=""/>
        <p:cNvGrpSpPr/>
        <p:nvPr/>
      </p:nvGrpSpPr>
      <p:grpSpPr>
        <a:xfrm>
          <a:off x="0" y="0"/>
          <a:ext cx="0" cy="0"/>
          <a:chOff x="0" y="0"/>
          <a:chExt cx="0" cy="0"/>
        </a:xfrm>
      </p:grpSpPr>
      <p:sp>
        <p:nvSpPr>
          <p:cNvPr id="2" name="Text 0"/>
          <p:cNvSpPr/>
          <p:nvPr/>
        </p:nvSpPr>
        <p:spPr>
          <a:xfrm>
            <a:off x="640080" y="457200"/>
            <a:ext cx="7315200" cy="274320"/>
          </a:xfrm>
          <a:prstGeom prst="rect">
            <a:avLst/>
          </a:prstGeom>
          <a:noFill/>
          <a:ln/>
        </p:spPr>
        <p:txBody>
          <a:bodyPr wrap="square" lIns="0" tIns="0" rIns="0" bIns="0" rtlCol="0" anchor="ctr"/>
          <a:lstStyle/>
          <a:p>
            <a:pPr indent="0" marL="0">
              <a:buNone/>
            </a:pPr>
            <a:r>
              <a:rPr lang="en-US" sz="1100" b="1" spc="200" kern="0" dirty="0">
                <a:solidFill>
                  <a:srgbClr val="C8F24C"/>
                </a:solidFill>
                <a:latin typeface="Arial" pitchFamily="34" charset="0"/>
                <a:ea typeface="Arial" pitchFamily="34" charset="-122"/>
                <a:cs typeface="Arial" pitchFamily="34" charset="-120"/>
              </a:rPr>
              <a:t>CLOSING</a:t>
            </a:r>
            <a:endParaRPr lang="en-US" sz="1100" dirty="0"/>
          </a:p>
        </p:txBody>
      </p:sp>
      <p:sp>
        <p:nvSpPr>
          <p:cNvPr id="3" name="Text 1"/>
          <p:cNvSpPr/>
          <p:nvPr/>
        </p:nvSpPr>
        <p:spPr>
          <a:xfrm>
            <a:off x="640080" y="1234440"/>
            <a:ext cx="10515600" cy="731520"/>
          </a:xfrm>
          <a:prstGeom prst="rect">
            <a:avLst/>
          </a:prstGeom>
          <a:noFill/>
          <a:ln/>
        </p:spPr>
        <p:txBody>
          <a:bodyPr wrap="square" lIns="0" tIns="0" rIns="0" bIns="0" rtlCol="0" anchor="ctr"/>
          <a:lstStyle/>
          <a:p>
            <a:pPr indent="0" marL="0">
              <a:buNone/>
            </a:pPr>
            <a:r>
              <a:rPr lang="en-US" sz="3400" b="1" dirty="0">
                <a:solidFill>
                  <a:srgbClr val="FFFFFF"/>
                </a:solidFill>
                <a:latin typeface="Arial" pitchFamily="34" charset="0"/>
                <a:ea typeface="Arial" pitchFamily="34" charset="-122"/>
                <a:cs typeface="Arial" pitchFamily="34" charset="-120"/>
              </a:rPr>
              <a:t>What we would tell the next team</a:t>
            </a:r>
            <a:endParaRPr lang="en-US" sz="3400" dirty="0"/>
          </a:p>
        </p:txBody>
      </p:sp>
      <p:sp>
        <p:nvSpPr>
          <p:cNvPr id="4" name="Text 2"/>
          <p:cNvSpPr/>
          <p:nvPr/>
        </p:nvSpPr>
        <p:spPr>
          <a:xfrm>
            <a:off x="640080" y="2286000"/>
            <a:ext cx="10515600" cy="1463040"/>
          </a:xfrm>
          <a:prstGeom prst="rect">
            <a:avLst/>
          </a:prstGeom>
          <a:noFill/>
          <a:ln/>
        </p:spPr>
        <p:txBody>
          <a:bodyPr wrap="square" lIns="0" tIns="0" rIns="0" bIns="0" rtlCol="0" anchor="ctr"/>
          <a:lstStyle/>
          <a:p>
            <a:pPr indent="0" marL="0">
              <a:lnSpc>
                <a:spcPct val="140000"/>
              </a:lnSpc>
              <a:buNone/>
            </a:pPr>
            <a:r>
              <a:rPr lang="en-US" sz="1550" dirty="0">
                <a:solidFill>
                  <a:srgbClr val="C9CFDA"/>
                </a:solidFill>
                <a:latin typeface="Calibri" pitchFamily="34" charset="0"/>
                <a:ea typeface="Calibri" pitchFamily="34" charset="-122"/>
                <a:cs typeface="Calibri" pitchFamily="34" charset="-120"/>
              </a:rPr>
              <a:t>Splitting a system is a trade, not an upgrade.  We gave up foreign keys, joins and</a:t>
            </a:r>
            <a:endParaRPr lang="en-US" sz="1550" dirty="0"/>
          </a:p>
          <a:p>
            <a:pPr indent="0" marL="0">
              <a:lnSpc>
                <a:spcPct val="140000"/>
              </a:lnSpc>
              <a:buNone/>
            </a:pPr>
            <a:r>
              <a:rPr lang="en-US" sz="1550" dirty="0">
                <a:solidFill>
                  <a:srgbClr val="C9CFDA"/>
                </a:solidFill>
                <a:latin typeface="Calibri" pitchFamily="34" charset="0"/>
                <a:ea typeface="Calibri" pitchFamily="34" charset="-122"/>
                <a:cs typeface="Calibri" pitchFamily="34" charset="-120"/>
              </a:rPr>
              <a:t>transactions across the boundary, and bought independent deployment and independent</a:t>
            </a:r>
            <a:endParaRPr lang="en-US" sz="1550" dirty="0"/>
          </a:p>
          <a:p>
            <a:pPr indent="0" marL="0">
              <a:lnSpc>
                <a:spcPct val="140000"/>
              </a:lnSpc>
              <a:buNone/>
            </a:pPr>
            <a:r>
              <a:rPr lang="en-US" sz="1550" dirty="0">
                <a:solidFill>
                  <a:srgbClr val="C9CFDA"/>
                </a:solidFill>
                <a:latin typeface="Calibri" pitchFamily="34" charset="0"/>
                <a:ea typeface="Calibri" pitchFamily="34" charset="-122"/>
                <a:cs typeface="Calibri" pitchFamily="34" charset="-120"/>
              </a:rPr>
              <a:t>database technology in return.  At this size a single application would have been</a:t>
            </a:r>
            <a:endParaRPr lang="en-US" sz="1550" dirty="0"/>
          </a:p>
          <a:p>
            <a:pPr indent="0" marL="0">
              <a:lnSpc>
                <a:spcPct val="140000"/>
              </a:lnSpc>
              <a:buNone/>
            </a:pPr>
            <a:r>
              <a:rPr lang="en-US" sz="1550" dirty="0">
                <a:solidFill>
                  <a:srgbClr val="C9CFDA"/>
                </a:solidFill>
                <a:latin typeface="Calibri" pitchFamily="34" charset="0"/>
                <a:ea typeface="Calibri" pitchFamily="34" charset="-122"/>
                <a:cs typeface="Calibri" pitchFamily="34" charset="-120"/>
              </a:rPr>
              <a:t>simpler — and being able to say exactly what we traded is the point of having built it.</a:t>
            </a:r>
            <a:endParaRPr lang="en-US" sz="1550" dirty="0"/>
          </a:p>
        </p:txBody>
      </p:sp>
      <p:sp>
        <p:nvSpPr>
          <p:cNvPr id="5" name="Text 3"/>
          <p:cNvSpPr/>
          <p:nvPr/>
        </p:nvSpPr>
        <p:spPr>
          <a:xfrm>
            <a:off x="640080" y="4114800"/>
            <a:ext cx="10515600" cy="640080"/>
          </a:xfrm>
          <a:prstGeom prst="rect">
            <a:avLst/>
          </a:prstGeom>
          <a:noFill/>
          <a:ln/>
        </p:spPr>
        <p:txBody>
          <a:bodyPr wrap="square" lIns="0" tIns="0" rIns="0" bIns="0" rtlCol="0" anchor="ctr"/>
          <a:lstStyle/>
          <a:p>
            <a:pPr indent="0" marL="0">
              <a:buNone/>
            </a:pPr>
            <a:r>
              <a:rPr lang="en-US" sz="3000" b="1" dirty="0">
                <a:solidFill>
                  <a:srgbClr val="FF5A3C"/>
                </a:solidFill>
                <a:latin typeface="Arial" pitchFamily="34" charset="0"/>
                <a:ea typeface="Arial" pitchFamily="34" charset="-122"/>
                <a:cs typeface="Arial" pitchFamily="34" charset="-120"/>
              </a:rPr>
              <a:t>Thank you.  Questions?</a:t>
            </a:r>
            <a:endParaRPr lang="en-US" sz="3000" dirty="0"/>
          </a:p>
        </p:txBody>
      </p:sp>
      <p:sp>
        <p:nvSpPr>
          <p:cNvPr id="6" name="Text 4"/>
          <p:cNvSpPr/>
          <p:nvPr/>
        </p:nvSpPr>
        <p:spPr>
          <a:xfrm>
            <a:off x="640080" y="5806440"/>
            <a:ext cx="10881360" cy="320040"/>
          </a:xfrm>
          <a:prstGeom prst="rect">
            <a:avLst/>
          </a:prstGeom>
          <a:noFill/>
          <a:ln/>
        </p:spPr>
        <p:txBody>
          <a:bodyPr wrap="square" lIns="0" tIns="0" rIns="0" bIns="0" rtlCol="0" anchor="ctr"/>
          <a:lstStyle/>
          <a:p>
            <a:pPr indent="0" marL="0">
              <a:buNone/>
            </a:pPr>
            <a:r>
              <a:rPr lang="en-US" sz="1250" dirty="0">
                <a:solidFill>
                  <a:srgbClr val="64748B"/>
                </a:solidFill>
                <a:latin typeface="Calibri" pitchFamily="34" charset="0"/>
                <a:ea typeface="Calibri" pitchFamily="34" charset="-122"/>
                <a:cs typeface="Calibri" pitchFamily="34" charset="-120"/>
              </a:rPr>
              <a:t>Repository:  github.com/khrisdain/workout-tracker            Demo sign-in:  admin / Admin@123</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PulseTrack - CPAN-228 Final Project</dc:title>
  <dc:subject>PptxGenJS Presentation</dc:subject>
  <dc:creator>PulseTrack team</dc:creator>
  <cp:lastModifiedBy>PulseTrack team</cp:lastModifiedBy>
  <cp:revision>1</cp:revision>
  <dcterms:created xsi:type="dcterms:W3CDTF">2026-08-18T16:10:37Z</dcterms:created>
  <dcterms:modified xsi:type="dcterms:W3CDTF">2026-08-18T16:10:37Z</dcterms:modified>
</cp:coreProperties>
</file>